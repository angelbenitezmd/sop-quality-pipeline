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618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a:effectLst/>
      </p:bgPr>
    </p:bg>
    <p:spTree>
      <p:nvGrpSpPr>
        <p:cNvPr id="1" name=""/>
        <p:cNvGrpSpPr/>
        <p:nvPr/>
      </p:nvGrpSpPr>
      <p:grpSpPr>
        <a:xfrm>
          <a:off x="0" y="0"/>
          <a:ext cx="0" cy="0"/>
          <a:chOff x="0" y="0"/>
          <a:chExt cx="0" cy="0"/>
        </a:xfrm>
      </p:grpSpPr>
      <p:sp>
        <p:nvSpPr>
          <p:cNvPr id="2" name="Text 0"/>
          <p:cNvSpPr/>
          <p:nvPr/>
        </p:nvSpPr>
        <p:spPr>
          <a:xfrm>
            <a:off x="548640" y="365760"/>
            <a:ext cx="2743200" cy="274320"/>
          </a:xfrm>
          <a:prstGeom prst="rect">
            <a:avLst/>
          </a:prstGeom>
          <a:noFill/>
          <a:ln/>
        </p:spPr>
        <p:txBody>
          <a:bodyPr wrap="square" rtlCol="0" anchor="ctr"/>
          <a:lstStyle/>
          <a:p>
            <a:pPr marL="0" indent="0">
              <a:buNone/>
            </a:pPr>
            <a:r>
              <a:rPr lang="en-US" sz="1100" b="1" dirty="0">
                <a:solidFill>
                  <a:srgbClr val="F25E6B"/>
                </a:solidFill>
                <a:latin typeface="Arial" pitchFamily="34" charset="0"/>
                <a:ea typeface="Arial" pitchFamily="34" charset="-122"/>
                <a:cs typeface="Arial" pitchFamily="34" charset="-120"/>
              </a:rPr>
              <a:t>CONFIDENTIAL</a:t>
            </a:r>
            <a:endParaRPr lang="en-US" sz="1100" dirty="0"/>
          </a:p>
        </p:txBody>
      </p:sp>
      <p:sp>
        <p:nvSpPr>
          <p:cNvPr id="3" name="Shape 1"/>
          <p:cNvSpPr/>
          <p:nvPr/>
        </p:nvSpPr>
        <p:spPr>
          <a:xfrm>
            <a:off x="548640" y="1280160"/>
            <a:ext cx="1097280" cy="54864"/>
          </a:xfrm>
          <a:prstGeom prst="rect">
            <a:avLst/>
          </a:prstGeom>
          <a:solidFill>
            <a:srgbClr val="F25E6B"/>
          </a:solidFill>
          <a:ln/>
        </p:spPr>
        <p:txBody>
          <a:bodyPr/>
          <a:lstStyle/>
          <a:p>
            <a:endParaRPr lang="en-US"/>
          </a:p>
        </p:txBody>
      </p:sp>
      <p:sp>
        <p:nvSpPr>
          <p:cNvPr id="4" name="Text 2"/>
          <p:cNvSpPr/>
          <p:nvPr/>
        </p:nvSpPr>
        <p:spPr>
          <a:xfrm>
            <a:off x="548640" y="1554480"/>
            <a:ext cx="9144000" cy="640080"/>
          </a:xfrm>
          <a:prstGeom prst="rect">
            <a:avLst/>
          </a:prstGeom>
          <a:noFill/>
          <a:ln/>
        </p:spPr>
        <p:txBody>
          <a:bodyPr wrap="square" rtlCol="0" anchor="ctr"/>
          <a:lstStyle/>
          <a:p>
            <a:pPr marL="0" indent="0">
              <a:buNone/>
            </a:pPr>
            <a:r>
              <a:rPr lang="en-US" sz="4200" b="1" dirty="0">
                <a:solidFill>
                  <a:srgbClr val="FFFFFF"/>
                </a:solidFill>
                <a:latin typeface="Arial Black" pitchFamily="34" charset="0"/>
                <a:ea typeface="Arial Black" pitchFamily="34" charset="-122"/>
                <a:cs typeface="Arial Black" pitchFamily="34" charset="-120"/>
              </a:rPr>
              <a:t>AI-Powered SOP</a:t>
            </a:r>
            <a:endParaRPr lang="en-US" sz="4200" dirty="0"/>
          </a:p>
        </p:txBody>
      </p:sp>
      <p:sp>
        <p:nvSpPr>
          <p:cNvPr id="5" name="Text 3"/>
          <p:cNvSpPr/>
          <p:nvPr/>
        </p:nvSpPr>
        <p:spPr>
          <a:xfrm>
            <a:off x="548640" y="2194560"/>
            <a:ext cx="9144000" cy="640080"/>
          </a:xfrm>
          <a:prstGeom prst="rect">
            <a:avLst/>
          </a:prstGeom>
          <a:noFill/>
          <a:ln/>
        </p:spPr>
        <p:txBody>
          <a:bodyPr wrap="square" rtlCol="0" anchor="ctr"/>
          <a:lstStyle/>
          <a:p>
            <a:pPr marL="0" indent="0">
              <a:buNone/>
            </a:pPr>
            <a:r>
              <a:rPr lang="en-US" sz="4200" b="1" dirty="0">
                <a:solidFill>
                  <a:srgbClr val="FFFFFF"/>
                </a:solidFill>
                <a:latin typeface="Arial Black" pitchFamily="34" charset="0"/>
                <a:ea typeface="Arial Black" pitchFamily="34" charset="-122"/>
                <a:cs typeface="Arial Black" pitchFamily="34" charset="-120"/>
              </a:rPr>
              <a:t>Quality Transformation</a:t>
            </a:r>
            <a:endParaRPr lang="en-US" sz="4200" dirty="0"/>
          </a:p>
        </p:txBody>
      </p:sp>
      <p:sp>
        <p:nvSpPr>
          <p:cNvPr id="6" name="Text 4"/>
          <p:cNvSpPr/>
          <p:nvPr/>
        </p:nvSpPr>
        <p:spPr>
          <a:xfrm>
            <a:off x="548640" y="2834640"/>
            <a:ext cx="9144000" cy="640080"/>
          </a:xfrm>
          <a:prstGeom prst="rect">
            <a:avLst/>
          </a:prstGeom>
          <a:noFill/>
          <a:ln/>
        </p:spPr>
        <p:txBody>
          <a:bodyPr wrap="square" rtlCol="0" anchor="ctr"/>
          <a:lstStyle/>
          <a:p>
            <a:pPr marL="0" indent="0">
              <a:buNone/>
            </a:pPr>
            <a:r>
              <a:rPr lang="en-US" sz="4200" b="1" dirty="0">
                <a:solidFill>
                  <a:srgbClr val="F25E6B"/>
                </a:solidFill>
                <a:latin typeface="Arial Black" pitchFamily="34" charset="0"/>
                <a:ea typeface="Arial Black" pitchFamily="34" charset="-122"/>
                <a:cs typeface="Arial Black" pitchFamily="34" charset="-120"/>
              </a:rPr>
              <a:t>&amp; Lifecycle Management</a:t>
            </a:r>
            <a:endParaRPr lang="en-US" sz="4200" dirty="0"/>
          </a:p>
        </p:txBody>
      </p:sp>
      <p:sp>
        <p:nvSpPr>
          <p:cNvPr id="7" name="Text 5"/>
          <p:cNvSpPr/>
          <p:nvPr/>
        </p:nvSpPr>
        <p:spPr>
          <a:xfrm>
            <a:off x="548640" y="3749040"/>
            <a:ext cx="7315200" cy="365760"/>
          </a:xfrm>
          <a:prstGeom prst="rect">
            <a:avLst/>
          </a:prstGeom>
          <a:noFill/>
          <a:ln/>
        </p:spPr>
        <p:txBody>
          <a:bodyPr wrap="square" rtlCol="0" anchor="ctr"/>
          <a:lstStyle/>
          <a:p>
            <a:pPr marL="0" indent="0">
              <a:buNone/>
            </a:pPr>
            <a:r>
              <a:rPr lang="en-US" sz="1600" dirty="0">
                <a:solidFill>
                  <a:srgbClr val="64748B"/>
                </a:solidFill>
                <a:latin typeface="Arial" pitchFamily="34" charset="0"/>
                <a:ea typeface="Arial" pitchFamily="34" charset="-122"/>
                <a:cs typeface="Arial" pitchFamily="34" charset="-120"/>
              </a:rPr>
              <a:t>A Strategic Proposal</a:t>
            </a:r>
            <a:endParaRPr lang="en-US" sz="1600" dirty="0"/>
          </a:p>
        </p:txBody>
      </p:sp>
      <p:sp>
        <p:nvSpPr>
          <p:cNvPr id="8" name="Shape 6"/>
          <p:cNvSpPr/>
          <p:nvPr/>
        </p:nvSpPr>
        <p:spPr>
          <a:xfrm>
            <a:off x="548640" y="4572000"/>
            <a:ext cx="4572000" cy="18288"/>
          </a:xfrm>
          <a:prstGeom prst="rect">
            <a:avLst/>
          </a:prstGeom>
          <a:solidFill>
            <a:srgbClr val="334155"/>
          </a:solidFill>
          <a:ln/>
        </p:spPr>
        <p:txBody>
          <a:bodyPr/>
          <a:lstStyle/>
          <a:p>
            <a:endParaRPr lang="en-US"/>
          </a:p>
        </p:txBody>
      </p:sp>
      <p:sp>
        <p:nvSpPr>
          <p:cNvPr id="9" name="Text 7"/>
          <p:cNvSpPr/>
          <p:nvPr/>
        </p:nvSpPr>
        <p:spPr>
          <a:xfrm>
            <a:off x="548640" y="4754880"/>
            <a:ext cx="7315200" cy="365760"/>
          </a:xfrm>
          <a:prstGeom prst="rect">
            <a:avLst/>
          </a:prstGeom>
          <a:noFill/>
          <a:ln/>
        </p:spPr>
        <p:txBody>
          <a:bodyPr wrap="square"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[Your Company Name]</a:t>
            </a:r>
            <a:endParaRPr lang="en-US" sz="1800" dirty="0"/>
          </a:p>
        </p:txBody>
      </p:sp>
      <p:sp>
        <p:nvSpPr>
          <p:cNvPr id="10" name="Text 8"/>
          <p:cNvSpPr/>
          <p:nvPr/>
        </p:nvSpPr>
        <p:spPr>
          <a:xfrm>
            <a:off x="548640" y="5166360"/>
            <a:ext cx="7315200" cy="27432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[Presenter Name], [Credentials]</a:t>
            </a:r>
            <a:endParaRPr lang="en-US" sz="1200" dirty="0"/>
          </a:p>
        </p:txBody>
      </p:sp>
      <p:sp>
        <p:nvSpPr>
          <p:cNvPr id="11" name="Text 9"/>
          <p:cNvSpPr/>
          <p:nvPr/>
        </p:nvSpPr>
        <p:spPr>
          <a:xfrm>
            <a:off x="548640" y="5440680"/>
            <a:ext cx="7315200" cy="274320"/>
          </a:xfrm>
          <a:prstGeom prst="rect">
            <a:avLst/>
          </a:prstGeom>
          <a:noFill/>
          <a:ln/>
        </p:spPr>
        <p:txBody>
          <a:bodyPr wrap="square" rtlCol="0" anchor="ctr"/>
          <a:lstStyle/>
          <a:p>
            <a:pPr marL="0" indent="0">
              <a:buNone/>
            </a:pPr>
            <a:r>
              <a:rPr lang="en-US" sz="1200" dirty="0">
                <a:solidFill>
                  <a:srgbClr val="64748B"/>
                </a:solidFill>
                <a:latin typeface="Arial" pitchFamily="34" charset="0"/>
                <a:ea typeface="Arial" pitchFamily="34" charset="-122"/>
                <a:cs typeface="Arial" pitchFamily="34" charset="-120"/>
              </a:rPr>
              <a:t>VP, Data Informatics &amp; Analytics | April 2026</a:t>
            </a:r>
            <a:endParaRPr lang="en-US" sz="1200" dirty="0"/>
          </a:p>
        </p:txBody>
      </p:sp>
      <p:sp>
        <p:nvSpPr>
          <p:cNvPr id="12" name="Text 10"/>
          <p:cNvSpPr/>
          <p:nvPr/>
        </p:nvSpPr>
        <p:spPr>
          <a:xfrm>
            <a:off x="548640" y="5715000"/>
            <a:ext cx="7315200" cy="274320"/>
          </a:xfrm>
          <a:prstGeom prst="rect">
            <a:avLst/>
          </a:prstGeom>
          <a:noFill/>
          <a:ln/>
        </p:spPr>
        <p:txBody>
          <a:bodyPr wrap="square" rtlCol="0" anchor="ctr"/>
          <a:lstStyle/>
          <a:p>
            <a:pPr marL="0" indent="0">
              <a:buNone/>
            </a:pPr>
            <a:r>
              <a:rPr lang="en-US" sz="1100" dirty="0">
                <a:solidFill>
                  <a:srgbClr val="F25E6B"/>
                </a:solidFill>
                <a:latin typeface="Arial" pitchFamily="34" charset="0"/>
                <a:ea typeface="Arial" pitchFamily="34" charset="-122"/>
                <a:cs typeface="Arial" pitchFamily="34" charset="-120"/>
              </a:rPr>
              <a:t>[Phone] | [Email]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Executive Summary</a:t>
            </a:r>
            <a:endParaRPr lang="en-US" sz="2800" dirty="0"/>
          </a:p>
        </p:txBody>
      </p:sp>
      <p:sp>
        <p:nvSpPr>
          <p:cNvPr id="4" name="Shape 2"/>
          <p:cNvSpPr/>
          <p:nvPr/>
        </p:nvSpPr>
        <p:spPr>
          <a:xfrm>
            <a:off x="548640" y="1188720"/>
            <a:ext cx="11064240" cy="914400"/>
          </a:xfrm>
          <a:prstGeom prst="roundRect">
            <a:avLst>
              <a:gd name="adj" fmla="val 8000"/>
            </a:avLst>
          </a:prstGeom>
          <a:solidFill>
            <a:srgbClr val="FFFFFF"/>
          </a:solidFill>
          <a:ln w="19050">
            <a:solidFill>
              <a:srgbClr val="F25E6B"/>
            </a:solidFill>
            <a:prstDash val="solid"/>
          </a:ln>
        </p:spPr>
        <p:txBody>
          <a:bodyPr/>
          <a:lstStyle/>
          <a:p>
            <a:endParaRPr lang="en-US"/>
          </a:p>
        </p:txBody>
      </p:sp>
      <p:sp>
        <p:nvSpPr>
          <p:cNvPr id="5" name="Shape 3"/>
          <p:cNvSpPr/>
          <p:nvPr/>
        </p:nvSpPr>
        <p:spPr>
          <a:xfrm>
            <a:off x="548640" y="1188720"/>
            <a:ext cx="73152" cy="914400"/>
          </a:xfrm>
          <a:prstGeom prst="rect">
            <a:avLst/>
          </a:prstGeom>
          <a:solidFill>
            <a:srgbClr val="F25E6B"/>
          </a:solidFill>
          <a:ln/>
        </p:spPr>
        <p:txBody>
          <a:bodyPr/>
          <a:lstStyle/>
          <a:p>
            <a:endParaRPr lang="en-US"/>
          </a:p>
        </p:txBody>
      </p:sp>
      <p:sp>
        <p:nvSpPr>
          <p:cNvPr id="6" name="Text 4"/>
          <p:cNvSpPr/>
          <p:nvPr/>
        </p:nvSpPr>
        <p:spPr>
          <a:xfrm>
            <a:off x="822960" y="1234440"/>
            <a:ext cx="10515600" cy="822960"/>
          </a:xfrm>
          <a:prstGeom prst="rect">
            <a:avLst/>
          </a:prstGeom>
          <a:noFill/>
          <a:ln/>
        </p:spPr>
        <p:txBody>
          <a:bodyPr wrap="square" rtlCol="0" anchor="ctr"/>
          <a:lstStyle/>
          <a:p>
            <a:pPr marL="0" indent="0">
              <a:buNone/>
            </a:pPr>
            <a:r>
              <a:rPr lang="en-US" sz="1200" i="1" dirty="0">
                <a:solidFill>
                  <a:srgbClr val="334155"/>
                </a:solidFill>
                <a:latin typeface="Arial" pitchFamily="34" charset="0"/>
                <a:ea typeface="Arial" pitchFamily="34" charset="-122"/>
                <a:cs typeface="Arial" pitchFamily="34" charset="-120"/>
              </a:rPr>
              <a:t>“The challenge is not that pharma companies have too many SOPs. The challenge is that the SOPs they have are often poorly written, ambiguous, and not fit for purpose on the manufacturing floor.”</a:t>
            </a:r>
            <a:endParaRPr lang="en-US" sz="1200" dirty="0"/>
          </a:p>
        </p:txBody>
      </p:sp>
      <p:sp>
        <p:nvSpPr>
          <p:cNvPr id="7" name="Shape 5"/>
          <p:cNvSpPr/>
          <p:nvPr/>
        </p:nvSpPr>
        <p:spPr>
          <a:xfrm>
            <a:off x="548640" y="2468880"/>
            <a:ext cx="5303520" cy="3383280"/>
          </a:xfrm>
          <a:prstGeom prst="roundRect">
            <a:avLst>
              <a:gd name="adj" fmla="val 2703"/>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8" name="Text 6"/>
          <p:cNvSpPr/>
          <p:nvPr/>
        </p:nvSpPr>
        <p:spPr>
          <a:xfrm>
            <a:off x="685800" y="2560320"/>
            <a:ext cx="5029200" cy="320040"/>
          </a:xfrm>
          <a:prstGeom prst="rect">
            <a:avLst/>
          </a:prstGeom>
          <a:noFill/>
          <a:ln/>
        </p:spPr>
        <p:txBody>
          <a:bodyPr wrap="square" rtlCol="0" anchor="ctr"/>
          <a:lstStyle/>
          <a:p>
            <a:pPr marL="0" indent="0">
              <a:buNone/>
            </a:pPr>
            <a:r>
              <a:rPr lang="en-US" sz="1300" b="1" dirty="0">
                <a:solidFill>
                  <a:srgbClr val="F25E6B"/>
                </a:solidFill>
                <a:latin typeface="Arial Black" pitchFamily="34" charset="0"/>
                <a:ea typeface="Arial Black" pitchFamily="34" charset="-122"/>
                <a:cs typeface="Arial Black" pitchFamily="34" charset="-120"/>
              </a:rPr>
              <a:t>What We Propose</a:t>
            </a:r>
            <a:endParaRPr lang="en-US" sz="1300" dirty="0"/>
          </a:p>
        </p:txBody>
      </p:sp>
      <p:sp>
        <p:nvSpPr>
          <p:cNvPr id="9" name="Text 7"/>
          <p:cNvSpPr/>
          <p:nvPr/>
        </p:nvSpPr>
        <p:spPr>
          <a:xfrm>
            <a:off x="685800" y="2880360"/>
            <a:ext cx="5029200" cy="28803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An AI-assisted SOP quality transformation program that improves the clarity, accuracy, usability, and regulatory defensibility of every SOP — whether simplified, newly authored, or merged.</a:t>
            </a:r>
            <a:endParaRPr lang="en-US" sz="1050" dirty="0"/>
          </a:p>
          <a:p>
            <a:pPr marL="0" indent="0">
              <a:lnSpc>
                <a:spcPct val="115000"/>
              </a:lnSpc>
              <a:buNone/>
            </a:pP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Consolidation is a byproduct of quality, not the goal.</a:t>
            </a:r>
            <a:endParaRPr lang="en-US" sz="1050" dirty="0"/>
          </a:p>
        </p:txBody>
      </p:sp>
      <p:sp>
        <p:nvSpPr>
          <p:cNvPr id="10" name="Shape 8"/>
          <p:cNvSpPr/>
          <p:nvPr/>
        </p:nvSpPr>
        <p:spPr>
          <a:xfrm>
            <a:off x="6126480" y="2468880"/>
            <a:ext cx="5303520" cy="3383280"/>
          </a:xfrm>
          <a:prstGeom prst="roundRect">
            <a:avLst>
              <a:gd name="adj" fmla="val 2703"/>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11" name="Text 9"/>
          <p:cNvSpPr/>
          <p:nvPr/>
        </p:nvSpPr>
        <p:spPr>
          <a:xfrm>
            <a:off x="6263640" y="2560320"/>
            <a:ext cx="5029200" cy="320040"/>
          </a:xfrm>
          <a:prstGeom prst="rect">
            <a:avLst/>
          </a:prstGeom>
          <a:noFill/>
          <a:ln/>
        </p:spPr>
        <p:txBody>
          <a:bodyPr wrap="square" rtlCol="0" anchor="ctr"/>
          <a:lstStyle/>
          <a:p>
            <a:pPr marL="0" indent="0">
              <a:buNone/>
            </a:pPr>
            <a:r>
              <a:rPr lang="en-US" sz="1300" b="1" dirty="0">
                <a:solidFill>
                  <a:srgbClr val="F25E6B"/>
                </a:solidFill>
                <a:latin typeface="Arial Black" pitchFamily="34" charset="0"/>
                <a:ea typeface="Arial Black" pitchFamily="34" charset="-122"/>
                <a:cs typeface="Arial Black" pitchFamily="34" charset="-120"/>
              </a:rPr>
              <a:t>Core Principle</a:t>
            </a:r>
            <a:endParaRPr lang="en-US" sz="1300" dirty="0"/>
          </a:p>
        </p:txBody>
      </p:sp>
      <p:sp>
        <p:nvSpPr>
          <p:cNvPr id="12" name="Text 10"/>
          <p:cNvSpPr/>
          <p:nvPr/>
        </p:nvSpPr>
        <p:spPr>
          <a:xfrm>
            <a:off x="6263640" y="2880360"/>
            <a:ext cx="5029200" cy="28803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AI suggests; humans decide. Every AI-generated output goes through mandatory human-in-the-loop review.</a:t>
            </a:r>
            <a:endParaRPr lang="en-US" sz="1050" dirty="0"/>
          </a:p>
          <a:p>
            <a:pPr marL="0" indent="0">
              <a:lnSpc>
                <a:spcPct val="115000"/>
              </a:lnSpc>
              <a:buNone/>
            </a:pP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Full audit trail. Full GMP compliance.</a:t>
            </a:r>
            <a:endParaRPr lang="en-US" sz="1050" dirty="0"/>
          </a:p>
          <a:p>
            <a:pPr marL="0" indent="0">
              <a:lnSpc>
                <a:spcPct val="115000"/>
              </a:lnSpc>
              <a:buNone/>
            </a:pP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Aligned to CPMAI, GAMP 5, ICH Q9/Q10, FDA CSA, and Pharma 4.0.</a:t>
            </a:r>
            <a:endParaRPr lang="en-US" sz="1050" dirty="0"/>
          </a:p>
        </p:txBody>
      </p:sp>
      <p:sp>
        <p:nvSpPr>
          <p:cNvPr id="13" name="Text 11"/>
          <p:cNvSpPr/>
          <p:nvPr/>
        </p:nvSpPr>
        <p:spPr>
          <a:xfrm>
            <a:off x="0" y="6400800"/>
            <a:ext cx="12188952" cy="36576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Confidential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Projected Outcomes at a Glance</a:t>
            </a:r>
            <a:endParaRPr lang="en-US" sz="2800" dirty="0"/>
          </a:p>
        </p:txBody>
      </p:sp>
      <p:sp>
        <p:nvSpPr>
          <p:cNvPr id="4" name="Shape 2"/>
          <p:cNvSpPr/>
          <p:nvPr/>
        </p:nvSpPr>
        <p:spPr>
          <a:xfrm>
            <a:off x="640080" y="1463040"/>
            <a:ext cx="3383280" cy="1737360"/>
          </a:xfrm>
          <a:prstGeom prst="roundRect">
            <a:avLst>
              <a:gd name="adj" fmla="val 4211"/>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5" name="Shape 3"/>
          <p:cNvSpPr/>
          <p:nvPr/>
        </p:nvSpPr>
        <p:spPr>
          <a:xfrm>
            <a:off x="640080" y="1463040"/>
            <a:ext cx="3383280" cy="54864"/>
          </a:xfrm>
          <a:prstGeom prst="rect">
            <a:avLst/>
          </a:prstGeom>
          <a:solidFill>
            <a:srgbClr val="F25E6B"/>
          </a:solidFill>
          <a:ln/>
        </p:spPr>
        <p:txBody>
          <a:bodyPr/>
          <a:lstStyle/>
          <a:p>
            <a:endParaRPr lang="en-US"/>
          </a:p>
        </p:txBody>
      </p:sp>
      <p:sp>
        <p:nvSpPr>
          <p:cNvPr id="6" name="Text 4"/>
          <p:cNvSpPr/>
          <p:nvPr/>
        </p:nvSpPr>
        <p:spPr>
          <a:xfrm>
            <a:off x="822960" y="1645920"/>
            <a:ext cx="3017520" cy="548640"/>
          </a:xfrm>
          <a:prstGeom prst="rect">
            <a:avLst/>
          </a:prstGeom>
          <a:noFill/>
          <a:ln/>
        </p:spPr>
        <p:txBody>
          <a:bodyPr wrap="square" rtlCol="0" anchor="ctr"/>
          <a:lstStyle/>
          <a:p>
            <a:pPr marL="0" indent="0">
              <a:buNone/>
            </a:pPr>
            <a:r>
              <a:rPr lang="en-US" sz="2400" b="1" dirty="0">
                <a:solidFill>
                  <a:srgbClr val="F25E6B"/>
                </a:solidFill>
                <a:latin typeface="Arial Black" pitchFamily="34" charset="0"/>
                <a:ea typeface="Arial Black" pitchFamily="34" charset="-122"/>
                <a:cs typeface="Arial Black" pitchFamily="34" charset="-120"/>
              </a:rPr>
              <a:t>20–30%</a:t>
            </a:r>
            <a:endParaRPr lang="en-US" sz="2400" dirty="0"/>
          </a:p>
        </p:txBody>
      </p:sp>
      <p:sp>
        <p:nvSpPr>
          <p:cNvPr id="7" name="Text 5"/>
          <p:cNvSpPr/>
          <p:nvPr/>
        </p:nvSpPr>
        <p:spPr>
          <a:xfrm>
            <a:off x="822960" y="2240280"/>
            <a:ext cx="3017520" cy="731520"/>
          </a:xfrm>
          <a:prstGeom prst="rect">
            <a:avLst/>
          </a:prstGeom>
          <a:noFill/>
          <a:ln/>
        </p:spPr>
        <p:txBody>
          <a:bodyPr wrap="square" rtlCol="0" anchor="t"/>
          <a:lstStyle/>
          <a:p>
            <a:pPr marL="0" indent="0">
              <a:buNone/>
            </a:pPr>
            <a:r>
              <a:rPr lang="en-US" sz="1100" dirty="0">
                <a:solidFill>
                  <a:srgbClr val="334155"/>
                </a:solidFill>
                <a:latin typeface="Arial" pitchFamily="34" charset="0"/>
                <a:ea typeface="Arial" pitchFamily="34" charset="-122"/>
                <a:cs typeface="Arial" pitchFamily="34" charset="-120"/>
              </a:rPr>
              <a:t>Reduction in SOP-Related Deviations</a:t>
            </a:r>
            <a:endParaRPr lang="en-US" sz="1100" dirty="0"/>
          </a:p>
        </p:txBody>
      </p:sp>
      <p:sp>
        <p:nvSpPr>
          <p:cNvPr id="8" name="Shape 6"/>
          <p:cNvSpPr/>
          <p:nvPr/>
        </p:nvSpPr>
        <p:spPr>
          <a:xfrm>
            <a:off x="4343400" y="1463040"/>
            <a:ext cx="3383280" cy="1737360"/>
          </a:xfrm>
          <a:prstGeom prst="roundRect">
            <a:avLst>
              <a:gd name="adj" fmla="val 4211"/>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9" name="Shape 7"/>
          <p:cNvSpPr/>
          <p:nvPr/>
        </p:nvSpPr>
        <p:spPr>
          <a:xfrm>
            <a:off x="4343400" y="1463040"/>
            <a:ext cx="3383280" cy="54864"/>
          </a:xfrm>
          <a:prstGeom prst="rect">
            <a:avLst/>
          </a:prstGeom>
          <a:solidFill>
            <a:srgbClr val="F25E6B"/>
          </a:solidFill>
          <a:ln/>
        </p:spPr>
        <p:txBody>
          <a:bodyPr/>
          <a:lstStyle/>
          <a:p>
            <a:endParaRPr lang="en-US"/>
          </a:p>
        </p:txBody>
      </p:sp>
      <p:sp>
        <p:nvSpPr>
          <p:cNvPr id="10" name="Text 8"/>
          <p:cNvSpPr/>
          <p:nvPr/>
        </p:nvSpPr>
        <p:spPr>
          <a:xfrm>
            <a:off x="4526280" y="1645920"/>
            <a:ext cx="3017520" cy="548640"/>
          </a:xfrm>
          <a:prstGeom prst="rect">
            <a:avLst/>
          </a:prstGeom>
          <a:noFill/>
          <a:ln/>
        </p:spPr>
        <p:txBody>
          <a:bodyPr wrap="square" rtlCol="0" anchor="ctr"/>
          <a:lstStyle/>
          <a:p>
            <a:pPr marL="0" indent="0">
              <a:buNone/>
            </a:pPr>
            <a:r>
              <a:rPr lang="en-US" sz="2400" b="1" dirty="0">
                <a:solidFill>
                  <a:srgbClr val="F25E6B"/>
                </a:solidFill>
                <a:latin typeface="Arial Black" pitchFamily="34" charset="0"/>
                <a:ea typeface="Arial Black" pitchFamily="34" charset="-122"/>
                <a:cs typeface="Arial Black" pitchFamily="34" charset="-120"/>
              </a:rPr>
              <a:t>50–70%</a:t>
            </a:r>
            <a:endParaRPr lang="en-US" sz="2400" dirty="0"/>
          </a:p>
        </p:txBody>
      </p:sp>
      <p:sp>
        <p:nvSpPr>
          <p:cNvPr id="11" name="Text 9"/>
          <p:cNvSpPr/>
          <p:nvPr/>
        </p:nvSpPr>
        <p:spPr>
          <a:xfrm>
            <a:off x="4526280" y="2240280"/>
            <a:ext cx="3017520" cy="731520"/>
          </a:xfrm>
          <a:prstGeom prst="rect">
            <a:avLst/>
          </a:prstGeom>
          <a:noFill/>
          <a:ln/>
        </p:spPr>
        <p:txBody>
          <a:bodyPr wrap="square" rtlCol="0" anchor="t"/>
          <a:lstStyle/>
          <a:p>
            <a:pPr marL="0" indent="0">
              <a:buNone/>
            </a:pPr>
            <a:r>
              <a:rPr lang="en-US" sz="1100" dirty="0">
                <a:solidFill>
                  <a:srgbClr val="334155"/>
                </a:solidFill>
                <a:latin typeface="Arial" pitchFamily="34" charset="0"/>
                <a:ea typeface="Arial" pitchFamily="34" charset="-122"/>
                <a:cs typeface="Arial" pitchFamily="34" charset="-120"/>
              </a:rPr>
              <a:t>Faster SOP Revision Cycles</a:t>
            </a:r>
            <a:endParaRPr lang="en-US" sz="1100" dirty="0"/>
          </a:p>
        </p:txBody>
      </p:sp>
      <p:sp>
        <p:nvSpPr>
          <p:cNvPr id="12" name="Shape 10"/>
          <p:cNvSpPr/>
          <p:nvPr/>
        </p:nvSpPr>
        <p:spPr>
          <a:xfrm>
            <a:off x="8046720" y="1463040"/>
            <a:ext cx="3383280" cy="1737360"/>
          </a:xfrm>
          <a:prstGeom prst="roundRect">
            <a:avLst>
              <a:gd name="adj" fmla="val 4211"/>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13" name="Shape 11"/>
          <p:cNvSpPr/>
          <p:nvPr/>
        </p:nvSpPr>
        <p:spPr>
          <a:xfrm>
            <a:off x="8046720" y="1463040"/>
            <a:ext cx="3383280" cy="54864"/>
          </a:xfrm>
          <a:prstGeom prst="rect">
            <a:avLst/>
          </a:prstGeom>
          <a:solidFill>
            <a:srgbClr val="F25E6B"/>
          </a:solidFill>
          <a:ln/>
        </p:spPr>
        <p:txBody>
          <a:bodyPr/>
          <a:lstStyle/>
          <a:p>
            <a:endParaRPr lang="en-US"/>
          </a:p>
        </p:txBody>
      </p:sp>
      <p:sp>
        <p:nvSpPr>
          <p:cNvPr id="14" name="Text 12"/>
          <p:cNvSpPr/>
          <p:nvPr/>
        </p:nvSpPr>
        <p:spPr>
          <a:xfrm>
            <a:off x="8229600" y="1645920"/>
            <a:ext cx="3017520" cy="548640"/>
          </a:xfrm>
          <a:prstGeom prst="rect">
            <a:avLst/>
          </a:prstGeom>
          <a:noFill/>
          <a:ln/>
        </p:spPr>
        <p:txBody>
          <a:bodyPr wrap="square" rtlCol="0" anchor="ctr"/>
          <a:lstStyle/>
          <a:p>
            <a:pPr marL="0" indent="0">
              <a:buNone/>
            </a:pPr>
            <a:r>
              <a:rPr lang="en-US" sz="2400" b="1" dirty="0">
                <a:solidFill>
                  <a:srgbClr val="F25E6B"/>
                </a:solidFill>
                <a:latin typeface="Arial Black" pitchFamily="34" charset="0"/>
                <a:ea typeface="Arial Black" pitchFamily="34" charset="-122"/>
                <a:cs typeface="Arial Black" pitchFamily="34" charset="-120"/>
              </a:rPr>
              <a:t>$500K–$2M</a:t>
            </a:r>
            <a:endParaRPr lang="en-US" sz="2400" dirty="0"/>
          </a:p>
        </p:txBody>
      </p:sp>
      <p:sp>
        <p:nvSpPr>
          <p:cNvPr id="15" name="Text 13"/>
          <p:cNvSpPr/>
          <p:nvPr/>
        </p:nvSpPr>
        <p:spPr>
          <a:xfrm>
            <a:off x="8229600" y="2240280"/>
            <a:ext cx="3017520" cy="731520"/>
          </a:xfrm>
          <a:prstGeom prst="rect">
            <a:avLst/>
          </a:prstGeom>
          <a:noFill/>
          <a:ln/>
        </p:spPr>
        <p:txBody>
          <a:bodyPr wrap="square" rtlCol="0" anchor="t"/>
          <a:lstStyle/>
          <a:p>
            <a:pPr marL="0" indent="0">
              <a:buNone/>
            </a:pPr>
            <a:r>
              <a:rPr lang="en-US" sz="1100" dirty="0">
                <a:solidFill>
                  <a:srgbClr val="334155"/>
                </a:solidFill>
                <a:latin typeface="Arial" pitchFamily="34" charset="0"/>
                <a:ea typeface="Arial" pitchFamily="34" charset="-122"/>
                <a:cs typeface="Arial" pitchFamily="34" charset="-120"/>
              </a:rPr>
              <a:t>Estimated Annual Cost Savings</a:t>
            </a:r>
            <a:endParaRPr lang="en-US" sz="1100" dirty="0"/>
          </a:p>
        </p:txBody>
      </p:sp>
      <p:sp>
        <p:nvSpPr>
          <p:cNvPr id="16" name="Shape 14"/>
          <p:cNvSpPr/>
          <p:nvPr/>
        </p:nvSpPr>
        <p:spPr>
          <a:xfrm>
            <a:off x="640080" y="3474720"/>
            <a:ext cx="3383280" cy="1737360"/>
          </a:xfrm>
          <a:prstGeom prst="roundRect">
            <a:avLst>
              <a:gd name="adj" fmla="val 4211"/>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17" name="Shape 15"/>
          <p:cNvSpPr/>
          <p:nvPr/>
        </p:nvSpPr>
        <p:spPr>
          <a:xfrm>
            <a:off x="640080" y="3474720"/>
            <a:ext cx="3383280" cy="54864"/>
          </a:xfrm>
          <a:prstGeom prst="rect">
            <a:avLst/>
          </a:prstGeom>
          <a:solidFill>
            <a:srgbClr val="F25E6B"/>
          </a:solidFill>
          <a:ln/>
        </p:spPr>
        <p:txBody>
          <a:bodyPr/>
          <a:lstStyle/>
          <a:p>
            <a:endParaRPr lang="en-US"/>
          </a:p>
        </p:txBody>
      </p:sp>
      <p:sp>
        <p:nvSpPr>
          <p:cNvPr id="18" name="Text 16"/>
          <p:cNvSpPr/>
          <p:nvPr/>
        </p:nvSpPr>
        <p:spPr>
          <a:xfrm>
            <a:off x="822960" y="3657600"/>
            <a:ext cx="3017520" cy="548640"/>
          </a:xfrm>
          <a:prstGeom prst="rect">
            <a:avLst/>
          </a:prstGeom>
          <a:noFill/>
          <a:ln/>
        </p:spPr>
        <p:txBody>
          <a:bodyPr wrap="square" rtlCol="0" anchor="ctr"/>
          <a:lstStyle/>
          <a:p>
            <a:pPr marL="0" indent="0">
              <a:buNone/>
            </a:pPr>
            <a:r>
              <a:rPr lang="en-US" sz="2400" b="1" dirty="0">
                <a:solidFill>
                  <a:srgbClr val="F25E6B"/>
                </a:solidFill>
                <a:latin typeface="Arial Black" pitchFamily="34" charset="0"/>
                <a:ea typeface="Arial Black" pitchFamily="34" charset="-122"/>
                <a:cs typeface="Arial Black" pitchFamily="34" charset="-120"/>
              </a:rPr>
              <a:t>↑ Quality Scorecard</a:t>
            </a:r>
            <a:endParaRPr lang="en-US" sz="2400" dirty="0"/>
          </a:p>
        </p:txBody>
      </p:sp>
      <p:sp>
        <p:nvSpPr>
          <p:cNvPr id="19" name="Text 17"/>
          <p:cNvSpPr/>
          <p:nvPr/>
        </p:nvSpPr>
        <p:spPr>
          <a:xfrm>
            <a:off x="822960" y="4251960"/>
            <a:ext cx="3017520" cy="731520"/>
          </a:xfrm>
          <a:prstGeom prst="rect">
            <a:avLst/>
          </a:prstGeom>
          <a:noFill/>
          <a:ln/>
        </p:spPr>
        <p:txBody>
          <a:bodyPr wrap="square" rtlCol="0" anchor="t"/>
          <a:lstStyle/>
          <a:p>
            <a:pPr marL="0" indent="0">
              <a:buNone/>
            </a:pPr>
            <a:r>
              <a:rPr lang="en-US" sz="1100" dirty="0">
                <a:solidFill>
                  <a:srgbClr val="334155"/>
                </a:solidFill>
                <a:latin typeface="Arial" pitchFamily="34" charset="0"/>
                <a:ea typeface="Arial" pitchFamily="34" charset="-122"/>
                <a:cs typeface="Arial" pitchFamily="34" charset="-120"/>
              </a:rPr>
              <a:t>Clarity, completeness, usability, consistency, defensibility</a:t>
            </a:r>
            <a:endParaRPr lang="en-US" sz="1100" dirty="0"/>
          </a:p>
        </p:txBody>
      </p:sp>
      <p:sp>
        <p:nvSpPr>
          <p:cNvPr id="20" name="Shape 18"/>
          <p:cNvSpPr/>
          <p:nvPr/>
        </p:nvSpPr>
        <p:spPr>
          <a:xfrm>
            <a:off x="4343400" y="3474720"/>
            <a:ext cx="3383280" cy="1737360"/>
          </a:xfrm>
          <a:prstGeom prst="roundRect">
            <a:avLst>
              <a:gd name="adj" fmla="val 4211"/>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21" name="Shape 19"/>
          <p:cNvSpPr/>
          <p:nvPr/>
        </p:nvSpPr>
        <p:spPr>
          <a:xfrm>
            <a:off x="4343400" y="3474720"/>
            <a:ext cx="3383280" cy="54864"/>
          </a:xfrm>
          <a:prstGeom prst="rect">
            <a:avLst/>
          </a:prstGeom>
          <a:solidFill>
            <a:srgbClr val="F25E6B"/>
          </a:solidFill>
          <a:ln/>
        </p:spPr>
        <p:txBody>
          <a:bodyPr/>
          <a:lstStyle/>
          <a:p>
            <a:endParaRPr lang="en-US"/>
          </a:p>
        </p:txBody>
      </p:sp>
      <p:sp>
        <p:nvSpPr>
          <p:cNvPr id="22" name="Text 20"/>
          <p:cNvSpPr/>
          <p:nvPr/>
        </p:nvSpPr>
        <p:spPr>
          <a:xfrm>
            <a:off x="4526280" y="3657600"/>
            <a:ext cx="3017520" cy="548640"/>
          </a:xfrm>
          <a:prstGeom prst="rect">
            <a:avLst/>
          </a:prstGeom>
          <a:noFill/>
          <a:ln/>
        </p:spPr>
        <p:txBody>
          <a:bodyPr wrap="square" rtlCol="0" anchor="ctr"/>
          <a:lstStyle/>
          <a:p>
            <a:pPr marL="0" indent="0">
              <a:buNone/>
            </a:pPr>
            <a:r>
              <a:rPr lang="en-US" sz="2400" b="1" dirty="0">
                <a:solidFill>
                  <a:srgbClr val="F25E6B"/>
                </a:solidFill>
                <a:latin typeface="Arial Black" pitchFamily="34" charset="0"/>
                <a:ea typeface="Arial Black" pitchFamily="34" charset="-122"/>
                <a:cs typeface="Arial Black" pitchFamily="34" charset="-120"/>
              </a:rPr>
              <a:t>↑ FDA Audit Readiness</a:t>
            </a:r>
            <a:endParaRPr lang="en-US" sz="2400" dirty="0"/>
          </a:p>
        </p:txBody>
      </p:sp>
      <p:sp>
        <p:nvSpPr>
          <p:cNvPr id="23" name="Text 21"/>
          <p:cNvSpPr/>
          <p:nvPr/>
        </p:nvSpPr>
        <p:spPr>
          <a:xfrm>
            <a:off x="4526280" y="4251960"/>
            <a:ext cx="3017520" cy="731520"/>
          </a:xfrm>
          <a:prstGeom prst="rect">
            <a:avLst/>
          </a:prstGeom>
          <a:noFill/>
          <a:ln/>
        </p:spPr>
        <p:txBody>
          <a:bodyPr wrap="square" rtlCol="0" anchor="t"/>
          <a:lstStyle/>
          <a:p>
            <a:pPr marL="0" indent="0">
              <a:buNone/>
            </a:pPr>
            <a:r>
              <a:rPr lang="en-US" sz="1100" dirty="0">
                <a:solidFill>
                  <a:srgbClr val="334155"/>
                </a:solidFill>
                <a:latin typeface="Arial" pitchFamily="34" charset="0"/>
                <a:ea typeface="Arial" pitchFamily="34" charset="-122"/>
                <a:cs typeface="Arial" pitchFamily="34" charset="-120"/>
              </a:rPr>
              <a:t>Proactive remediation of top 483 gaps</a:t>
            </a:r>
            <a:endParaRPr lang="en-US" sz="1100" dirty="0"/>
          </a:p>
        </p:txBody>
      </p:sp>
      <p:sp>
        <p:nvSpPr>
          <p:cNvPr id="24" name="Shape 22"/>
          <p:cNvSpPr/>
          <p:nvPr/>
        </p:nvSpPr>
        <p:spPr>
          <a:xfrm>
            <a:off x="8046720" y="3474720"/>
            <a:ext cx="3383280" cy="1737360"/>
          </a:xfrm>
          <a:prstGeom prst="roundRect">
            <a:avLst>
              <a:gd name="adj" fmla="val 4211"/>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25" name="Shape 23"/>
          <p:cNvSpPr/>
          <p:nvPr/>
        </p:nvSpPr>
        <p:spPr>
          <a:xfrm>
            <a:off x="8046720" y="3474720"/>
            <a:ext cx="3383280" cy="54864"/>
          </a:xfrm>
          <a:prstGeom prst="rect">
            <a:avLst/>
          </a:prstGeom>
          <a:solidFill>
            <a:srgbClr val="F25E6B"/>
          </a:solidFill>
          <a:ln/>
        </p:spPr>
        <p:txBody>
          <a:bodyPr/>
          <a:lstStyle/>
          <a:p>
            <a:endParaRPr lang="en-US"/>
          </a:p>
        </p:txBody>
      </p:sp>
      <p:sp>
        <p:nvSpPr>
          <p:cNvPr id="26" name="Text 24"/>
          <p:cNvSpPr/>
          <p:nvPr/>
        </p:nvSpPr>
        <p:spPr>
          <a:xfrm>
            <a:off x="8229600" y="3657600"/>
            <a:ext cx="3017520" cy="548640"/>
          </a:xfrm>
          <a:prstGeom prst="rect">
            <a:avLst/>
          </a:prstGeom>
          <a:noFill/>
          <a:ln/>
        </p:spPr>
        <p:txBody>
          <a:bodyPr wrap="square" rtlCol="0" anchor="ctr"/>
          <a:lstStyle/>
          <a:p>
            <a:pPr marL="0" indent="0">
              <a:buNone/>
            </a:pPr>
            <a:r>
              <a:rPr lang="en-US" sz="2400" b="1" dirty="0">
                <a:solidFill>
                  <a:srgbClr val="F25E6B"/>
                </a:solidFill>
                <a:latin typeface="Arial Black" pitchFamily="34" charset="0"/>
                <a:ea typeface="Arial Black" pitchFamily="34" charset="-122"/>
                <a:cs typeface="Arial Black" pitchFamily="34" charset="-120"/>
              </a:rPr>
              <a:t>↑ Operator Confidence</a:t>
            </a:r>
            <a:endParaRPr lang="en-US" sz="2400" dirty="0"/>
          </a:p>
        </p:txBody>
      </p:sp>
      <p:sp>
        <p:nvSpPr>
          <p:cNvPr id="27" name="Text 25"/>
          <p:cNvSpPr/>
          <p:nvPr/>
        </p:nvSpPr>
        <p:spPr>
          <a:xfrm>
            <a:off x="8229600" y="4251960"/>
            <a:ext cx="3017520" cy="731520"/>
          </a:xfrm>
          <a:prstGeom prst="rect">
            <a:avLst/>
          </a:prstGeom>
          <a:noFill/>
          <a:ln/>
        </p:spPr>
        <p:txBody>
          <a:bodyPr wrap="square" rtlCol="0" anchor="t"/>
          <a:lstStyle/>
          <a:p>
            <a:pPr marL="0" indent="0">
              <a:buNone/>
            </a:pPr>
            <a:r>
              <a:rPr lang="en-US" sz="1100" dirty="0">
                <a:solidFill>
                  <a:srgbClr val="334155"/>
                </a:solidFill>
                <a:latin typeface="Arial" pitchFamily="34" charset="0"/>
                <a:ea typeface="Arial" pitchFamily="34" charset="-122"/>
                <a:cs typeface="Arial" pitchFamily="34" charset="-120"/>
              </a:rPr>
              <a:t>Structured floor feedback</a:t>
            </a:r>
            <a:endParaRPr lang="en-US" sz="1100" dirty="0"/>
          </a:p>
        </p:txBody>
      </p:sp>
      <p:sp>
        <p:nvSpPr>
          <p:cNvPr id="28" name="Text 26"/>
          <p:cNvSpPr/>
          <p:nvPr/>
        </p:nvSpPr>
        <p:spPr>
          <a:xfrm>
            <a:off x="0" y="6400800"/>
            <a:ext cx="12188952" cy="36576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 Illustrative numbers based on previous SOP transformation projects.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a:effectLst/>
      </p:bgPr>
    </p:bg>
    <p:spTree>
      <p:nvGrpSpPr>
        <p:cNvPr id="1" name=""/>
        <p:cNvGrpSpPr/>
        <p:nvPr/>
      </p:nvGrpSpPr>
      <p:grpSpPr>
        <a:xfrm>
          <a:off x="0" y="0"/>
          <a:ext cx="0" cy="0"/>
          <a:chOff x="0" y="0"/>
          <a:chExt cx="0" cy="0"/>
        </a:xfrm>
      </p:grpSpPr>
      <p:sp>
        <p:nvSpPr>
          <p:cNvPr id="2" name="Text 0"/>
          <p:cNvSpPr/>
          <p:nvPr/>
        </p:nvSpPr>
        <p:spPr>
          <a:xfrm>
            <a:off x="0" y="1828800"/>
            <a:ext cx="12188952" cy="91440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3" name="Text 1"/>
          <p:cNvSpPr/>
          <p:nvPr/>
        </p:nvSpPr>
        <p:spPr>
          <a:xfrm>
            <a:off x="0" y="2743200"/>
            <a:ext cx="12188952" cy="731520"/>
          </a:xfrm>
          <a:prstGeom prst="rect">
            <a:avLst/>
          </a:prstGeom>
          <a:noFill/>
          <a:ln/>
        </p:spPr>
        <p:txBody>
          <a:bodyPr wrap="square" rtlCol="0" anchor="ctr"/>
          <a:lstStyle/>
          <a:p>
            <a:pPr marL="0" indent="0" algn="ctr">
              <a:buNone/>
            </a:pPr>
            <a:r>
              <a:rPr lang="en-US" sz="3600" b="1" dirty="0">
                <a:solidFill>
                  <a:srgbClr val="FFFFFF"/>
                </a:solidFill>
                <a:latin typeface="Arial Black" pitchFamily="34" charset="0"/>
                <a:ea typeface="Arial Black" pitchFamily="34" charset="-122"/>
                <a:cs typeface="Arial Black" pitchFamily="34" charset="-120"/>
              </a:rPr>
              <a:t>The Problem</a:t>
            </a:r>
            <a:endParaRPr lang="en-US" sz="3600" dirty="0"/>
          </a:p>
        </p:txBody>
      </p:sp>
      <p:sp>
        <p:nvSpPr>
          <p:cNvPr id="4" name="Text 2"/>
          <p:cNvSpPr/>
          <p:nvPr/>
        </p:nvSpPr>
        <p:spPr>
          <a:xfrm>
            <a:off x="1371600" y="3566160"/>
            <a:ext cx="9445752" cy="548640"/>
          </a:xfrm>
          <a:prstGeom prst="rect">
            <a:avLst/>
          </a:prstGeom>
          <a:noFill/>
          <a:ln/>
        </p:spPr>
        <p:txBody>
          <a:bodyPr wrap="square" rtlCol="0" anchor="ctr"/>
          <a:lstStyle/>
          <a:p>
            <a:pPr marL="0" indent="0" algn="ctr">
              <a:buNone/>
            </a:pPr>
            <a:r>
              <a:rPr lang="en-US" sz="1600" dirty="0">
                <a:solidFill>
                  <a:srgbClr val="64748B"/>
                </a:solidFill>
                <a:latin typeface="Arial" pitchFamily="34" charset="0"/>
                <a:ea typeface="Arial" pitchFamily="34" charset="-122"/>
                <a:cs typeface="Arial" pitchFamily="34" charset="-120"/>
              </a:rPr>
              <a:t>SOP Challenges in Pharmaceutical Manufacturing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Ten Critical SOP Challenges</a:t>
            </a:r>
            <a:endParaRPr lang="en-US" sz="2800" dirty="0"/>
          </a:p>
        </p:txBody>
      </p:sp>
      <p:sp>
        <p:nvSpPr>
          <p:cNvPr id="4" name="Text 2"/>
          <p:cNvSpPr/>
          <p:nvPr/>
        </p:nvSpPr>
        <p:spPr>
          <a:xfrm>
            <a:off x="548640" y="1371600"/>
            <a:ext cx="5303520" cy="320040"/>
          </a:xfrm>
          <a:prstGeom prst="rect">
            <a:avLst/>
          </a:prstGeom>
          <a:noFill/>
          <a:ln/>
        </p:spPr>
        <p:txBody>
          <a:bodyPr wrap="square" rtlCol="0" anchor="ctr"/>
          <a:lstStyle/>
          <a:p>
            <a:pPr marL="0" indent="0">
              <a:buNone/>
            </a:pPr>
            <a:r>
              <a:rPr lang="en-US" sz="1200" b="1" dirty="0">
                <a:solidFill>
                  <a:srgbClr val="F25E6B"/>
                </a:solidFill>
                <a:latin typeface="Arial" pitchFamily="34" charset="0"/>
                <a:ea typeface="Arial" pitchFamily="34" charset="-122"/>
                <a:cs typeface="Arial" pitchFamily="34" charset="-120"/>
              </a:rPr>
              <a:t>1. </a:t>
            </a:r>
            <a:r>
              <a:rPr lang="en-US" sz="1200" b="1" dirty="0">
                <a:solidFill>
                  <a:srgbClr val="0D0D0D"/>
                </a:solidFill>
                <a:latin typeface="Arial" pitchFamily="34" charset="0"/>
                <a:ea typeface="Arial" pitchFamily="34" charset="-122"/>
                <a:cs typeface="Arial" pitchFamily="34" charset="-120"/>
              </a:rPr>
              <a:t>Volume &amp; Sprawl</a:t>
            </a:r>
            <a:endParaRPr lang="en-US" sz="1200" dirty="0"/>
          </a:p>
        </p:txBody>
      </p:sp>
      <p:sp>
        <p:nvSpPr>
          <p:cNvPr id="5" name="Text 3"/>
          <p:cNvSpPr/>
          <p:nvPr/>
        </p:nvSpPr>
        <p:spPr>
          <a:xfrm>
            <a:off x="822960" y="1691640"/>
            <a:ext cx="5029200" cy="502920"/>
          </a:xfrm>
          <a:prstGeom prst="rect">
            <a:avLst/>
          </a:prstGeom>
          <a:noFill/>
          <a:ln/>
        </p:spPr>
        <p:txBody>
          <a:bodyPr wrap="square" rtlCol="0" anchor="ctr"/>
          <a:lstStyle/>
          <a:p>
            <a:pPr marL="0" indent="0">
              <a:buNone/>
            </a:pPr>
            <a:r>
              <a:rPr lang="en-US" sz="1050" dirty="0">
                <a:solidFill>
                  <a:srgbClr val="334155"/>
                </a:solidFill>
                <a:latin typeface="Arial" pitchFamily="34" charset="0"/>
                <a:ea typeface="Arial" pitchFamily="34" charset="-122"/>
                <a:cs typeface="Arial" pitchFamily="34" charset="-120"/>
              </a:rPr>
              <a:t>1,000–3,000+ SOPs per site. Many redundant or outdated.</a:t>
            </a:r>
            <a:endParaRPr lang="en-US" sz="1050" dirty="0"/>
          </a:p>
        </p:txBody>
      </p:sp>
      <p:sp>
        <p:nvSpPr>
          <p:cNvPr id="6" name="Text 4"/>
          <p:cNvSpPr/>
          <p:nvPr/>
        </p:nvSpPr>
        <p:spPr>
          <a:xfrm>
            <a:off x="548640" y="2331720"/>
            <a:ext cx="5303520" cy="320040"/>
          </a:xfrm>
          <a:prstGeom prst="rect">
            <a:avLst/>
          </a:prstGeom>
          <a:noFill/>
          <a:ln/>
        </p:spPr>
        <p:txBody>
          <a:bodyPr wrap="square" rtlCol="0" anchor="ctr"/>
          <a:lstStyle/>
          <a:p>
            <a:pPr marL="0" indent="0">
              <a:buNone/>
            </a:pPr>
            <a:r>
              <a:rPr lang="en-US" sz="1200" b="1" dirty="0">
                <a:solidFill>
                  <a:srgbClr val="F25E6B"/>
                </a:solidFill>
                <a:latin typeface="Arial" pitchFamily="34" charset="0"/>
                <a:ea typeface="Arial" pitchFamily="34" charset="-122"/>
                <a:cs typeface="Arial" pitchFamily="34" charset="-120"/>
              </a:rPr>
              <a:t>2. </a:t>
            </a:r>
            <a:r>
              <a:rPr lang="en-US" sz="1200" b="1" dirty="0">
                <a:solidFill>
                  <a:srgbClr val="0D0D0D"/>
                </a:solidFill>
                <a:latin typeface="Arial" pitchFamily="34" charset="0"/>
                <a:ea typeface="Arial" pitchFamily="34" charset="-122"/>
                <a:cs typeface="Arial" pitchFamily="34" charset="-120"/>
              </a:rPr>
              <a:t>Tedious Authoring</a:t>
            </a:r>
            <a:endParaRPr lang="en-US" sz="1200" dirty="0"/>
          </a:p>
        </p:txBody>
      </p:sp>
      <p:sp>
        <p:nvSpPr>
          <p:cNvPr id="7" name="Text 5"/>
          <p:cNvSpPr/>
          <p:nvPr/>
        </p:nvSpPr>
        <p:spPr>
          <a:xfrm>
            <a:off x="822960" y="2651760"/>
            <a:ext cx="5029200" cy="502920"/>
          </a:xfrm>
          <a:prstGeom prst="rect">
            <a:avLst/>
          </a:prstGeom>
          <a:noFill/>
          <a:ln/>
        </p:spPr>
        <p:txBody>
          <a:bodyPr wrap="square" rtlCol="0" anchor="ctr"/>
          <a:lstStyle/>
          <a:p>
            <a:pPr marL="0" indent="0">
              <a:buNone/>
            </a:pPr>
            <a:r>
              <a:rPr lang="en-US" sz="1050" dirty="0">
                <a:solidFill>
                  <a:srgbClr val="334155"/>
                </a:solidFill>
                <a:latin typeface="Arial" pitchFamily="34" charset="0"/>
                <a:ea typeface="Arial" pitchFamily="34" charset="-122"/>
                <a:cs typeface="Arial" pitchFamily="34" charset="-120"/>
              </a:rPr>
              <a:t>60–120 day revision cycles. Multiple QA bottlenecks.</a:t>
            </a:r>
            <a:endParaRPr lang="en-US" sz="1050" dirty="0"/>
          </a:p>
        </p:txBody>
      </p:sp>
      <p:sp>
        <p:nvSpPr>
          <p:cNvPr id="8" name="Text 6"/>
          <p:cNvSpPr/>
          <p:nvPr/>
        </p:nvSpPr>
        <p:spPr>
          <a:xfrm>
            <a:off x="548640" y="3291840"/>
            <a:ext cx="5303520" cy="320040"/>
          </a:xfrm>
          <a:prstGeom prst="rect">
            <a:avLst/>
          </a:prstGeom>
          <a:noFill/>
          <a:ln/>
        </p:spPr>
        <p:txBody>
          <a:bodyPr wrap="square" rtlCol="0" anchor="ctr"/>
          <a:lstStyle/>
          <a:p>
            <a:pPr marL="0" indent="0">
              <a:buNone/>
            </a:pPr>
            <a:r>
              <a:rPr lang="en-US" sz="1200" b="1" dirty="0">
                <a:solidFill>
                  <a:srgbClr val="F25E6B"/>
                </a:solidFill>
                <a:latin typeface="Arial" pitchFamily="34" charset="0"/>
                <a:ea typeface="Arial" pitchFamily="34" charset="-122"/>
                <a:cs typeface="Arial" pitchFamily="34" charset="-120"/>
              </a:rPr>
              <a:t>3. </a:t>
            </a:r>
            <a:r>
              <a:rPr lang="en-US" sz="1200" b="1" dirty="0">
                <a:solidFill>
                  <a:srgbClr val="0D0D0D"/>
                </a:solidFill>
                <a:latin typeface="Arial" pitchFamily="34" charset="0"/>
                <a:ea typeface="Arial" pitchFamily="34" charset="-122"/>
                <a:cs typeface="Arial" pitchFamily="34" charset="-120"/>
              </a:rPr>
              <a:t>Excessive Length</a:t>
            </a:r>
            <a:endParaRPr lang="en-US" sz="1200" dirty="0"/>
          </a:p>
        </p:txBody>
      </p:sp>
      <p:sp>
        <p:nvSpPr>
          <p:cNvPr id="9" name="Text 7"/>
          <p:cNvSpPr/>
          <p:nvPr/>
        </p:nvSpPr>
        <p:spPr>
          <a:xfrm>
            <a:off x="822960" y="3611880"/>
            <a:ext cx="5029200" cy="502920"/>
          </a:xfrm>
          <a:prstGeom prst="rect">
            <a:avLst/>
          </a:prstGeom>
          <a:noFill/>
          <a:ln/>
        </p:spPr>
        <p:txBody>
          <a:bodyPr wrap="square" rtlCol="0" anchor="ctr"/>
          <a:lstStyle/>
          <a:p>
            <a:pPr marL="0" indent="0">
              <a:buNone/>
            </a:pPr>
            <a:r>
              <a:rPr lang="en-US" sz="1050" dirty="0">
                <a:solidFill>
                  <a:srgbClr val="334155"/>
                </a:solidFill>
                <a:latin typeface="Arial" pitchFamily="34" charset="0"/>
                <a:ea typeface="Arial" pitchFamily="34" charset="-122"/>
                <a:cs typeface="Arial" pitchFamily="34" charset="-120"/>
              </a:rPr>
              <a:t>20–50 pages where 5–8 would suffice.</a:t>
            </a:r>
            <a:endParaRPr lang="en-US" sz="1050" dirty="0"/>
          </a:p>
        </p:txBody>
      </p:sp>
      <p:sp>
        <p:nvSpPr>
          <p:cNvPr id="10" name="Text 8"/>
          <p:cNvSpPr/>
          <p:nvPr/>
        </p:nvSpPr>
        <p:spPr>
          <a:xfrm>
            <a:off x="548640" y="4251960"/>
            <a:ext cx="5303520" cy="320040"/>
          </a:xfrm>
          <a:prstGeom prst="rect">
            <a:avLst/>
          </a:prstGeom>
          <a:noFill/>
          <a:ln/>
        </p:spPr>
        <p:txBody>
          <a:bodyPr wrap="square" rtlCol="0" anchor="ctr"/>
          <a:lstStyle/>
          <a:p>
            <a:pPr marL="0" indent="0">
              <a:buNone/>
            </a:pPr>
            <a:r>
              <a:rPr lang="en-US" sz="1200" b="1" dirty="0">
                <a:solidFill>
                  <a:srgbClr val="F25E6B"/>
                </a:solidFill>
                <a:latin typeface="Arial" pitchFamily="34" charset="0"/>
                <a:ea typeface="Arial" pitchFamily="34" charset="-122"/>
                <a:cs typeface="Arial" pitchFamily="34" charset="-120"/>
              </a:rPr>
              <a:t>4. </a:t>
            </a:r>
            <a:r>
              <a:rPr lang="en-US" sz="1200" b="1" dirty="0">
                <a:solidFill>
                  <a:srgbClr val="0D0D0D"/>
                </a:solidFill>
                <a:latin typeface="Arial" pitchFamily="34" charset="0"/>
                <a:ea typeface="Arial" pitchFamily="34" charset="-122"/>
                <a:cs typeface="Arial" pitchFamily="34" charset="-120"/>
              </a:rPr>
              <a:t>Deviation Risk</a:t>
            </a:r>
            <a:endParaRPr lang="en-US" sz="1200" dirty="0"/>
          </a:p>
        </p:txBody>
      </p:sp>
      <p:sp>
        <p:nvSpPr>
          <p:cNvPr id="11" name="Text 9"/>
          <p:cNvSpPr/>
          <p:nvPr/>
        </p:nvSpPr>
        <p:spPr>
          <a:xfrm>
            <a:off x="822960" y="4572000"/>
            <a:ext cx="5029200" cy="502920"/>
          </a:xfrm>
          <a:prstGeom prst="rect">
            <a:avLst/>
          </a:prstGeom>
          <a:noFill/>
          <a:ln/>
        </p:spPr>
        <p:txBody>
          <a:bodyPr wrap="square" rtlCol="0" anchor="ctr"/>
          <a:lstStyle/>
          <a:p>
            <a:pPr marL="0" indent="0">
              <a:buNone/>
            </a:pPr>
            <a:r>
              <a:rPr lang="en-US" sz="1050" dirty="0">
                <a:solidFill>
                  <a:srgbClr val="334155"/>
                </a:solidFill>
                <a:latin typeface="Arial" pitchFamily="34" charset="0"/>
                <a:ea typeface="Arial" pitchFamily="34" charset="-122"/>
                <a:cs typeface="Arial" pitchFamily="34" charset="-120"/>
              </a:rPr>
              <a:t>Difficult-to-follow SOPs increase deviation likelihood. Each deviation costs $5K–$25K+.</a:t>
            </a:r>
            <a:endParaRPr lang="en-US" sz="1050" dirty="0"/>
          </a:p>
        </p:txBody>
      </p:sp>
      <p:sp>
        <p:nvSpPr>
          <p:cNvPr id="12" name="Text 10"/>
          <p:cNvSpPr/>
          <p:nvPr/>
        </p:nvSpPr>
        <p:spPr>
          <a:xfrm>
            <a:off x="548640" y="5212080"/>
            <a:ext cx="5303520" cy="320040"/>
          </a:xfrm>
          <a:prstGeom prst="rect">
            <a:avLst/>
          </a:prstGeom>
          <a:noFill/>
          <a:ln/>
        </p:spPr>
        <p:txBody>
          <a:bodyPr wrap="square" rtlCol="0" anchor="ctr"/>
          <a:lstStyle/>
          <a:p>
            <a:pPr marL="0" indent="0">
              <a:buNone/>
            </a:pPr>
            <a:r>
              <a:rPr lang="en-US" sz="1200" b="1" dirty="0">
                <a:solidFill>
                  <a:srgbClr val="F25E6B"/>
                </a:solidFill>
                <a:latin typeface="Arial" pitchFamily="34" charset="0"/>
                <a:ea typeface="Arial" pitchFamily="34" charset="-122"/>
                <a:cs typeface="Arial" pitchFamily="34" charset="-120"/>
              </a:rPr>
              <a:t>5. </a:t>
            </a:r>
            <a:r>
              <a:rPr lang="en-US" sz="1200" b="1" dirty="0">
                <a:solidFill>
                  <a:srgbClr val="0D0D0D"/>
                </a:solidFill>
                <a:latin typeface="Arial" pitchFamily="34" charset="0"/>
                <a:ea typeface="Arial" pitchFamily="34" charset="-122"/>
                <a:cs typeface="Arial" pitchFamily="34" charset="-120"/>
              </a:rPr>
              <a:t>FDA 483 Exposure</a:t>
            </a:r>
            <a:endParaRPr lang="en-US" sz="1200" dirty="0"/>
          </a:p>
        </p:txBody>
      </p:sp>
      <p:sp>
        <p:nvSpPr>
          <p:cNvPr id="13" name="Text 11"/>
          <p:cNvSpPr/>
          <p:nvPr/>
        </p:nvSpPr>
        <p:spPr>
          <a:xfrm>
            <a:off x="822960" y="5532120"/>
            <a:ext cx="5029200" cy="502920"/>
          </a:xfrm>
          <a:prstGeom prst="rect">
            <a:avLst/>
          </a:prstGeom>
          <a:noFill/>
          <a:ln/>
        </p:spPr>
        <p:txBody>
          <a:bodyPr wrap="square" rtlCol="0" anchor="ctr"/>
          <a:lstStyle/>
          <a:p>
            <a:pPr marL="0" indent="0">
              <a:buNone/>
            </a:pPr>
            <a:r>
              <a:rPr lang="en-US" sz="1050" dirty="0">
                <a:solidFill>
                  <a:srgbClr val="334155"/>
                </a:solidFill>
                <a:latin typeface="Arial" pitchFamily="34" charset="0"/>
                <a:ea typeface="Arial" pitchFamily="34" charset="-122"/>
                <a:cs typeface="Arial" pitchFamily="34" charset="-120"/>
              </a:rPr>
              <a:t>‘Failure to follow procedures’ — top-5 citation every year.</a:t>
            </a:r>
            <a:endParaRPr lang="en-US" sz="1050" dirty="0"/>
          </a:p>
        </p:txBody>
      </p:sp>
      <p:sp>
        <p:nvSpPr>
          <p:cNvPr id="14" name="Text 12"/>
          <p:cNvSpPr/>
          <p:nvPr/>
        </p:nvSpPr>
        <p:spPr>
          <a:xfrm>
            <a:off x="6217920" y="1371600"/>
            <a:ext cx="5303520" cy="320040"/>
          </a:xfrm>
          <a:prstGeom prst="rect">
            <a:avLst/>
          </a:prstGeom>
          <a:noFill/>
          <a:ln/>
        </p:spPr>
        <p:txBody>
          <a:bodyPr wrap="square" rtlCol="0" anchor="ctr"/>
          <a:lstStyle/>
          <a:p>
            <a:pPr marL="0" indent="0">
              <a:buNone/>
            </a:pPr>
            <a:r>
              <a:rPr lang="en-US" sz="1200" b="1" dirty="0">
                <a:solidFill>
                  <a:srgbClr val="F25E6B"/>
                </a:solidFill>
                <a:latin typeface="Arial" pitchFamily="34" charset="0"/>
                <a:ea typeface="Arial" pitchFamily="34" charset="-122"/>
                <a:cs typeface="Arial" pitchFamily="34" charset="-120"/>
              </a:rPr>
              <a:t>6. </a:t>
            </a:r>
            <a:r>
              <a:rPr lang="en-US" sz="1200" b="1" dirty="0">
                <a:solidFill>
                  <a:srgbClr val="0D0D0D"/>
                </a:solidFill>
                <a:latin typeface="Arial" pitchFamily="34" charset="0"/>
                <a:ea typeface="Arial" pitchFamily="34" charset="-122"/>
                <a:cs typeface="Arial" pitchFamily="34" charset="-120"/>
              </a:rPr>
              <a:t>Training Burden</a:t>
            </a:r>
            <a:endParaRPr lang="en-US" sz="1200" dirty="0"/>
          </a:p>
        </p:txBody>
      </p:sp>
      <p:sp>
        <p:nvSpPr>
          <p:cNvPr id="15" name="Text 13"/>
          <p:cNvSpPr/>
          <p:nvPr/>
        </p:nvSpPr>
        <p:spPr>
          <a:xfrm>
            <a:off x="6492240" y="1691640"/>
            <a:ext cx="5029200" cy="502920"/>
          </a:xfrm>
          <a:prstGeom prst="rect">
            <a:avLst/>
          </a:prstGeom>
          <a:noFill/>
          <a:ln/>
        </p:spPr>
        <p:txBody>
          <a:bodyPr wrap="square" rtlCol="0" anchor="ctr"/>
          <a:lstStyle/>
          <a:p>
            <a:pPr marL="0" indent="0">
              <a:buNone/>
            </a:pPr>
            <a:r>
              <a:rPr lang="en-US" sz="1050" dirty="0">
                <a:solidFill>
                  <a:srgbClr val="334155"/>
                </a:solidFill>
                <a:latin typeface="Arial" pitchFamily="34" charset="0"/>
                <a:ea typeface="Arial" pitchFamily="34" charset="-122"/>
                <a:cs typeface="Arial" pitchFamily="34" charset="-120"/>
              </a:rPr>
              <a:t>Every revision triggers performative retraining.</a:t>
            </a:r>
            <a:endParaRPr lang="en-US" sz="1050" dirty="0"/>
          </a:p>
        </p:txBody>
      </p:sp>
      <p:sp>
        <p:nvSpPr>
          <p:cNvPr id="16" name="Text 14"/>
          <p:cNvSpPr/>
          <p:nvPr/>
        </p:nvSpPr>
        <p:spPr>
          <a:xfrm>
            <a:off x="6217920" y="2331720"/>
            <a:ext cx="5303520" cy="320040"/>
          </a:xfrm>
          <a:prstGeom prst="rect">
            <a:avLst/>
          </a:prstGeom>
          <a:noFill/>
          <a:ln/>
        </p:spPr>
        <p:txBody>
          <a:bodyPr wrap="square" rtlCol="0" anchor="ctr"/>
          <a:lstStyle/>
          <a:p>
            <a:pPr marL="0" indent="0">
              <a:buNone/>
            </a:pPr>
            <a:r>
              <a:rPr lang="en-US" sz="1200" b="1" dirty="0">
                <a:solidFill>
                  <a:srgbClr val="F25E6B"/>
                </a:solidFill>
                <a:latin typeface="Arial" pitchFamily="34" charset="0"/>
                <a:ea typeface="Arial" pitchFamily="34" charset="-122"/>
                <a:cs typeface="Arial" pitchFamily="34" charset="-120"/>
              </a:rPr>
              <a:t>7. </a:t>
            </a:r>
            <a:r>
              <a:rPr lang="en-US" sz="1200" b="1" dirty="0">
                <a:solidFill>
                  <a:srgbClr val="0D0D0D"/>
                </a:solidFill>
                <a:latin typeface="Arial" pitchFamily="34" charset="0"/>
                <a:ea typeface="Arial" pitchFamily="34" charset="-122"/>
                <a:cs typeface="Arial" pitchFamily="34" charset="-120"/>
              </a:rPr>
              <a:t>Regulatory Push</a:t>
            </a:r>
            <a:endParaRPr lang="en-US" sz="1200" dirty="0"/>
          </a:p>
        </p:txBody>
      </p:sp>
      <p:sp>
        <p:nvSpPr>
          <p:cNvPr id="17" name="Text 15"/>
          <p:cNvSpPr/>
          <p:nvPr/>
        </p:nvSpPr>
        <p:spPr>
          <a:xfrm>
            <a:off x="6492240" y="2651760"/>
            <a:ext cx="5029200" cy="502920"/>
          </a:xfrm>
          <a:prstGeom prst="rect">
            <a:avLst/>
          </a:prstGeom>
          <a:noFill/>
          <a:ln/>
        </p:spPr>
        <p:txBody>
          <a:bodyPr wrap="square" rtlCol="0" anchor="ctr"/>
          <a:lstStyle/>
          <a:p>
            <a:pPr marL="0" indent="0">
              <a:buNone/>
            </a:pPr>
            <a:r>
              <a:rPr lang="en-US" sz="1050" dirty="0">
                <a:solidFill>
                  <a:srgbClr val="334155"/>
                </a:solidFill>
                <a:latin typeface="Arial" pitchFamily="34" charset="0"/>
                <a:ea typeface="Arial" pitchFamily="34" charset="-122"/>
                <a:cs typeface="Arial" pitchFamily="34" charset="-120"/>
              </a:rPr>
              <a:t>FDA, ICH Q10 expect right-sized documentation.</a:t>
            </a:r>
            <a:endParaRPr lang="en-US" sz="1050" dirty="0"/>
          </a:p>
        </p:txBody>
      </p:sp>
      <p:sp>
        <p:nvSpPr>
          <p:cNvPr id="18" name="Text 16"/>
          <p:cNvSpPr/>
          <p:nvPr/>
        </p:nvSpPr>
        <p:spPr>
          <a:xfrm>
            <a:off x="6217920" y="3291840"/>
            <a:ext cx="5303520" cy="320040"/>
          </a:xfrm>
          <a:prstGeom prst="rect">
            <a:avLst/>
          </a:prstGeom>
          <a:noFill/>
          <a:ln/>
        </p:spPr>
        <p:txBody>
          <a:bodyPr wrap="square" rtlCol="0" anchor="ctr"/>
          <a:lstStyle/>
          <a:p>
            <a:pPr marL="0" indent="0">
              <a:buNone/>
            </a:pPr>
            <a:r>
              <a:rPr lang="en-US" sz="1200" b="1" dirty="0">
                <a:solidFill>
                  <a:srgbClr val="F25E6B"/>
                </a:solidFill>
                <a:latin typeface="Arial" pitchFamily="34" charset="0"/>
                <a:ea typeface="Arial" pitchFamily="34" charset="-122"/>
                <a:cs typeface="Arial" pitchFamily="34" charset="-120"/>
              </a:rPr>
              <a:t>8. </a:t>
            </a:r>
            <a:r>
              <a:rPr lang="en-US" sz="1200" b="1" dirty="0">
                <a:solidFill>
                  <a:srgbClr val="0D0D0D"/>
                </a:solidFill>
                <a:latin typeface="Arial" pitchFamily="34" charset="0"/>
                <a:ea typeface="Arial" pitchFamily="34" charset="-122"/>
                <a:cs typeface="Arial" pitchFamily="34" charset="-120"/>
              </a:rPr>
              <a:t>Version Control Gaps</a:t>
            </a:r>
            <a:endParaRPr lang="en-US" sz="1200" dirty="0"/>
          </a:p>
        </p:txBody>
      </p:sp>
      <p:sp>
        <p:nvSpPr>
          <p:cNvPr id="19" name="Text 17"/>
          <p:cNvSpPr/>
          <p:nvPr/>
        </p:nvSpPr>
        <p:spPr>
          <a:xfrm>
            <a:off x="6492240" y="3611880"/>
            <a:ext cx="5029200" cy="502920"/>
          </a:xfrm>
          <a:prstGeom prst="rect">
            <a:avLst/>
          </a:prstGeom>
          <a:noFill/>
          <a:ln/>
        </p:spPr>
        <p:txBody>
          <a:bodyPr wrap="square" rtlCol="0" anchor="ctr"/>
          <a:lstStyle/>
          <a:p>
            <a:pPr marL="0" indent="0">
              <a:buNone/>
            </a:pPr>
            <a:r>
              <a:rPr lang="en-US" sz="1050" dirty="0">
                <a:solidFill>
                  <a:srgbClr val="334155"/>
                </a:solidFill>
                <a:latin typeface="Arial" pitchFamily="34" charset="0"/>
                <a:ea typeface="Arial" pitchFamily="34" charset="-122"/>
                <a:cs typeface="Arial" pitchFamily="34" charset="-120"/>
              </a:rPr>
              <a:t>Cross-referencing relies on human diligence.</a:t>
            </a:r>
            <a:endParaRPr lang="en-US" sz="1050" dirty="0"/>
          </a:p>
        </p:txBody>
      </p:sp>
      <p:sp>
        <p:nvSpPr>
          <p:cNvPr id="20" name="Text 18"/>
          <p:cNvSpPr/>
          <p:nvPr/>
        </p:nvSpPr>
        <p:spPr>
          <a:xfrm>
            <a:off x="6217920" y="4251960"/>
            <a:ext cx="5303520" cy="320040"/>
          </a:xfrm>
          <a:prstGeom prst="rect">
            <a:avLst/>
          </a:prstGeom>
          <a:noFill/>
          <a:ln/>
        </p:spPr>
        <p:txBody>
          <a:bodyPr wrap="square" rtlCol="0" anchor="ctr"/>
          <a:lstStyle/>
          <a:p>
            <a:pPr marL="0" indent="0">
              <a:buNone/>
            </a:pPr>
            <a:r>
              <a:rPr lang="en-US" sz="1200" b="1" dirty="0">
                <a:solidFill>
                  <a:srgbClr val="F25E6B"/>
                </a:solidFill>
                <a:latin typeface="Arial" pitchFamily="34" charset="0"/>
                <a:ea typeface="Arial" pitchFamily="34" charset="-122"/>
                <a:cs typeface="Arial" pitchFamily="34" charset="-120"/>
              </a:rPr>
              <a:t>9. </a:t>
            </a:r>
            <a:r>
              <a:rPr lang="en-US" sz="1200" b="1" dirty="0">
                <a:solidFill>
                  <a:srgbClr val="0D0D0D"/>
                </a:solidFill>
                <a:latin typeface="Arial" pitchFamily="34" charset="0"/>
                <a:ea typeface="Arial" pitchFamily="34" charset="-122"/>
                <a:cs typeface="Arial" pitchFamily="34" charset="-120"/>
              </a:rPr>
              <a:t>Cross-Site Inconsistency</a:t>
            </a:r>
            <a:endParaRPr lang="en-US" sz="1200" dirty="0"/>
          </a:p>
        </p:txBody>
      </p:sp>
      <p:sp>
        <p:nvSpPr>
          <p:cNvPr id="21" name="Text 19"/>
          <p:cNvSpPr/>
          <p:nvPr/>
        </p:nvSpPr>
        <p:spPr>
          <a:xfrm>
            <a:off x="6492240" y="4572000"/>
            <a:ext cx="5029200" cy="502920"/>
          </a:xfrm>
          <a:prstGeom prst="rect">
            <a:avLst/>
          </a:prstGeom>
          <a:noFill/>
          <a:ln/>
        </p:spPr>
        <p:txBody>
          <a:bodyPr wrap="square" rtlCol="0" anchor="ctr"/>
          <a:lstStyle/>
          <a:p>
            <a:pPr marL="0" indent="0">
              <a:buNone/>
            </a:pPr>
            <a:r>
              <a:rPr lang="en-US" sz="1050" dirty="0">
                <a:solidFill>
                  <a:srgbClr val="334155"/>
                </a:solidFill>
                <a:latin typeface="Arial" pitchFamily="34" charset="0"/>
                <a:ea typeface="Arial" pitchFamily="34" charset="-122"/>
                <a:cs typeface="Arial" pitchFamily="34" charset="-120"/>
              </a:rPr>
              <a:t>Style variability creates audit risk.</a:t>
            </a:r>
            <a:endParaRPr lang="en-US" sz="1050" dirty="0"/>
          </a:p>
        </p:txBody>
      </p:sp>
      <p:sp>
        <p:nvSpPr>
          <p:cNvPr id="22" name="Text 20"/>
          <p:cNvSpPr/>
          <p:nvPr/>
        </p:nvSpPr>
        <p:spPr>
          <a:xfrm>
            <a:off x="6217920" y="5212080"/>
            <a:ext cx="5303520" cy="320040"/>
          </a:xfrm>
          <a:prstGeom prst="rect">
            <a:avLst/>
          </a:prstGeom>
          <a:noFill/>
          <a:ln/>
        </p:spPr>
        <p:txBody>
          <a:bodyPr wrap="square" rtlCol="0" anchor="ctr"/>
          <a:lstStyle/>
          <a:p>
            <a:pPr marL="0" indent="0">
              <a:buNone/>
            </a:pPr>
            <a:r>
              <a:rPr lang="en-US" sz="1200" b="1" dirty="0">
                <a:solidFill>
                  <a:srgbClr val="F25E6B"/>
                </a:solidFill>
                <a:latin typeface="Arial" pitchFamily="34" charset="0"/>
                <a:ea typeface="Arial" pitchFamily="34" charset="-122"/>
                <a:cs typeface="Arial" pitchFamily="34" charset="-120"/>
              </a:rPr>
              <a:t>10. </a:t>
            </a:r>
            <a:r>
              <a:rPr lang="en-US" sz="1200" b="1" dirty="0">
                <a:solidFill>
                  <a:srgbClr val="0D0D0D"/>
                </a:solidFill>
                <a:latin typeface="Arial" pitchFamily="34" charset="0"/>
                <a:ea typeface="Arial" pitchFamily="34" charset="-122"/>
                <a:cs typeface="Arial" pitchFamily="34" charset="-120"/>
              </a:rPr>
              <a:t>Opportunity Cost</a:t>
            </a:r>
            <a:endParaRPr lang="en-US" sz="1200" dirty="0"/>
          </a:p>
        </p:txBody>
      </p:sp>
      <p:sp>
        <p:nvSpPr>
          <p:cNvPr id="23" name="Text 21"/>
          <p:cNvSpPr/>
          <p:nvPr/>
        </p:nvSpPr>
        <p:spPr>
          <a:xfrm>
            <a:off x="6492240" y="5532120"/>
            <a:ext cx="5029200" cy="502920"/>
          </a:xfrm>
          <a:prstGeom prst="rect">
            <a:avLst/>
          </a:prstGeom>
          <a:noFill/>
          <a:ln/>
        </p:spPr>
        <p:txBody>
          <a:bodyPr wrap="square" rtlCol="0" anchor="ctr"/>
          <a:lstStyle/>
          <a:p>
            <a:pPr marL="0" indent="0">
              <a:buNone/>
            </a:pPr>
            <a:r>
              <a:rPr lang="en-US" sz="1050" dirty="0">
                <a:solidFill>
                  <a:srgbClr val="334155"/>
                </a:solidFill>
                <a:latin typeface="Arial" pitchFamily="34" charset="0"/>
                <a:ea typeface="Arial" pitchFamily="34" charset="-122"/>
                <a:cs typeface="Arial" pitchFamily="34" charset="-120"/>
              </a:rPr>
              <a:t>Best engineers stuck in document bureaucracy.</a:t>
            </a:r>
            <a:endParaRPr lang="en-US" sz="1050" dirty="0"/>
          </a:p>
        </p:txBody>
      </p:sp>
      <p:sp>
        <p:nvSpPr>
          <p:cNvPr id="24" name="Text 22"/>
          <p:cNvSpPr/>
          <p:nvPr/>
        </p:nvSpPr>
        <p:spPr>
          <a:xfrm>
            <a:off x="0" y="6400800"/>
            <a:ext cx="12188952" cy="36576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Confidential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Where SOPs Accumulate</a:t>
            </a:r>
            <a:endParaRPr lang="en-US" sz="2800" dirty="0"/>
          </a:p>
        </p:txBody>
      </p:sp>
      <p:sp>
        <p:nvSpPr>
          <p:cNvPr id="4" name="Text 2"/>
          <p:cNvSpPr/>
          <p:nvPr/>
        </p:nvSpPr>
        <p:spPr>
          <a:xfrm>
            <a:off x="731520" y="960120"/>
            <a:ext cx="9144000" cy="365760"/>
          </a:xfrm>
          <a:prstGeom prst="rect">
            <a:avLst/>
          </a:prstGeom>
          <a:noFill/>
          <a:ln/>
        </p:spPr>
        <p:txBody>
          <a:bodyPr wrap="square" rtlCol="0" anchor="ctr"/>
          <a:lstStyle/>
          <a:p>
            <a:pPr marL="0" indent="0">
              <a:buNone/>
            </a:pPr>
            <a:r>
              <a:rPr lang="en-US" sz="1400" dirty="0">
                <a:solidFill>
                  <a:srgbClr val="64748B"/>
                </a:solidFill>
                <a:latin typeface="Arial" pitchFamily="34" charset="0"/>
                <a:ea typeface="Arial" pitchFamily="34" charset="-122"/>
                <a:cs typeface="Arial" pitchFamily="34" charset="-120"/>
              </a:rPr>
              <a:t>Typical large pharma site — cleaning &amp; equipment alone account for nearly half the volume</a:t>
            </a:r>
            <a:endParaRPr lang="en-US" sz="1400" dirty="0"/>
          </a:p>
        </p:txBody>
      </p:sp>
      <p:sp>
        <p:nvSpPr>
          <p:cNvPr id="5" name="Text 3"/>
          <p:cNvSpPr/>
          <p:nvPr/>
        </p:nvSpPr>
        <p:spPr>
          <a:xfrm>
            <a:off x="365760" y="1645920"/>
            <a:ext cx="2103120" cy="457200"/>
          </a:xfrm>
          <a:prstGeom prst="rect">
            <a:avLst/>
          </a:prstGeom>
          <a:noFill/>
          <a:ln/>
        </p:spPr>
        <p:txBody>
          <a:bodyPr wrap="square" rtlCol="0" anchor="ctr"/>
          <a:lstStyle/>
          <a:p>
            <a:pPr marL="0" indent="0" algn="r">
              <a:buNone/>
            </a:pPr>
            <a:r>
              <a:rPr lang="en-US" sz="1100" dirty="0">
                <a:solidFill>
                  <a:srgbClr val="334155"/>
                </a:solidFill>
                <a:latin typeface="Arial" pitchFamily="34" charset="0"/>
                <a:ea typeface="Arial" pitchFamily="34" charset="-122"/>
                <a:cs typeface="Arial" pitchFamily="34" charset="-120"/>
              </a:rPr>
              <a:t>Cleaning &amp; Sanit.</a:t>
            </a:r>
            <a:endParaRPr lang="en-US" sz="1100" dirty="0"/>
          </a:p>
        </p:txBody>
      </p:sp>
      <p:sp>
        <p:nvSpPr>
          <p:cNvPr id="6" name="Shape 4"/>
          <p:cNvSpPr/>
          <p:nvPr/>
        </p:nvSpPr>
        <p:spPr>
          <a:xfrm>
            <a:off x="2560320" y="1691640"/>
            <a:ext cx="5943600" cy="365760"/>
          </a:xfrm>
          <a:prstGeom prst="roundRect">
            <a:avLst>
              <a:gd name="adj" fmla="val 10000"/>
            </a:avLst>
          </a:prstGeom>
          <a:solidFill>
            <a:srgbClr val="F25E6B"/>
          </a:solidFill>
          <a:ln/>
        </p:spPr>
        <p:txBody>
          <a:bodyPr/>
          <a:lstStyle/>
          <a:p>
            <a:endParaRPr lang="en-US"/>
          </a:p>
        </p:txBody>
      </p:sp>
      <p:sp>
        <p:nvSpPr>
          <p:cNvPr id="7" name="Text 5"/>
          <p:cNvSpPr/>
          <p:nvPr/>
        </p:nvSpPr>
        <p:spPr>
          <a:xfrm>
            <a:off x="8595360" y="1645920"/>
            <a:ext cx="548640" cy="457200"/>
          </a:xfrm>
          <a:prstGeom prst="rect">
            <a:avLst/>
          </a:prstGeom>
          <a:noFill/>
          <a:ln/>
        </p:spPr>
        <p:txBody>
          <a:bodyPr wrap="square" rtlCol="0" anchor="ctr"/>
          <a:lstStyle/>
          <a:p>
            <a:pPr marL="0" indent="0">
              <a:buNone/>
            </a:pPr>
            <a:r>
              <a:rPr lang="en-US" sz="1100" b="1" dirty="0">
                <a:solidFill>
                  <a:srgbClr val="334155"/>
                </a:solidFill>
                <a:latin typeface="Arial" pitchFamily="34" charset="0"/>
                <a:ea typeface="Arial" pitchFamily="34" charset="-122"/>
                <a:cs typeface="Arial" pitchFamily="34" charset="-120"/>
              </a:rPr>
              <a:t>80</a:t>
            </a:r>
            <a:endParaRPr lang="en-US" sz="1100" dirty="0"/>
          </a:p>
        </p:txBody>
      </p:sp>
      <p:sp>
        <p:nvSpPr>
          <p:cNvPr id="8" name="Text 6"/>
          <p:cNvSpPr/>
          <p:nvPr/>
        </p:nvSpPr>
        <p:spPr>
          <a:xfrm>
            <a:off x="365760" y="2212848"/>
            <a:ext cx="2103120" cy="457200"/>
          </a:xfrm>
          <a:prstGeom prst="rect">
            <a:avLst/>
          </a:prstGeom>
          <a:noFill/>
          <a:ln/>
        </p:spPr>
        <p:txBody>
          <a:bodyPr wrap="square" rtlCol="0" anchor="ctr"/>
          <a:lstStyle/>
          <a:p>
            <a:pPr marL="0" indent="0" algn="r">
              <a:buNone/>
            </a:pPr>
            <a:r>
              <a:rPr lang="en-US" sz="1100" dirty="0">
                <a:solidFill>
                  <a:srgbClr val="334155"/>
                </a:solidFill>
                <a:latin typeface="Arial" pitchFamily="34" charset="0"/>
                <a:ea typeface="Arial" pitchFamily="34" charset="-122"/>
                <a:cs typeface="Arial" pitchFamily="34" charset="-120"/>
              </a:rPr>
              <a:t>Equipment Ops</a:t>
            </a:r>
            <a:endParaRPr lang="en-US" sz="1100" dirty="0"/>
          </a:p>
        </p:txBody>
      </p:sp>
      <p:sp>
        <p:nvSpPr>
          <p:cNvPr id="9" name="Shape 7"/>
          <p:cNvSpPr/>
          <p:nvPr/>
        </p:nvSpPr>
        <p:spPr>
          <a:xfrm>
            <a:off x="2560320" y="2258568"/>
            <a:ext cx="4829175" cy="365760"/>
          </a:xfrm>
          <a:prstGeom prst="roundRect">
            <a:avLst>
              <a:gd name="adj" fmla="val 10000"/>
            </a:avLst>
          </a:prstGeom>
          <a:solidFill>
            <a:srgbClr val="1A1A2E"/>
          </a:solidFill>
          <a:ln/>
        </p:spPr>
        <p:txBody>
          <a:bodyPr/>
          <a:lstStyle/>
          <a:p>
            <a:endParaRPr lang="en-US"/>
          </a:p>
        </p:txBody>
      </p:sp>
      <p:sp>
        <p:nvSpPr>
          <p:cNvPr id="10" name="Text 8"/>
          <p:cNvSpPr/>
          <p:nvPr/>
        </p:nvSpPr>
        <p:spPr>
          <a:xfrm>
            <a:off x="7480935" y="2212848"/>
            <a:ext cx="548640" cy="457200"/>
          </a:xfrm>
          <a:prstGeom prst="rect">
            <a:avLst/>
          </a:prstGeom>
          <a:noFill/>
          <a:ln/>
        </p:spPr>
        <p:txBody>
          <a:bodyPr wrap="square" rtlCol="0" anchor="ctr"/>
          <a:lstStyle/>
          <a:p>
            <a:pPr marL="0" indent="0">
              <a:buNone/>
            </a:pPr>
            <a:r>
              <a:rPr lang="en-US" sz="1100" b="1" dirty="0">
                <a:solidFill>
                  <a:srgbClr val="334155"/>
                </a:solidFill>
                <a:latin typeface="Arial" pitchFamily="34" charset="0"/>
                <a:ea typeface="Arial" pitchFamily="34" charset="-122"/>
                <a:cs typeface="Arial" pitchFamily="34" charset="-120"/>
              </a:rPr>
              <a:t>65</a:t>
            </a:r>
            <a:endParaRPr lang="en-US" sz="1100" dirty="0"/>
          </a:p>
        </p:txBody>
      </p:sp>
      <p:sp>
        <p:nvSpPr>
          <p:cNvPr id="11" name="Text 9"/>
          <p:cNvSpPr/>
          <p:nvPr/>
        </p:nvSpPr>
        <p:spPr>
          <a:xfrm>
            <a:off x="365760" y="2779776"/>
            <a:ext cx="2103120" cy="457200"/>
          </a:xfrm>
          <a:prstGeom prst="rect">
            <a:avLst/>
          </a:prstGeom>
          <a:noFill/>
          <a:ln/>
        </p:spPr>
        <p:txBody>
          <a:bodyPr wrap="square" rtlCol="0" anchor="ctr"/>
          <a:lstStyle/>
          <a:p>
            <a:pPr marL="0" indent="0" algn="r">
              <a:buNone/>
            </a:pPr>
            <a:r>
              <a:rPr lang="en-US" sz="1100" dirty="0">
                <a:solidFill>
                  <a:srgbClr val="334155"/>
                </a:solidFill>
                <a:latin typeface="Arial" pitchFamily="34" charset="0"/>
                <a:ea typeface="Arial" pitchFamily="34" charset="-122"/>
                <a:cs typeface="Arial" pitchFamily="34" charset="-120"/>
              </a:rPr>
              <a:t>QC / Lab</a:t>
            </a:r>
            <a:endParaRPr lang="en-US" sz="1100" dirty="0"/>
          </a:p>
        </p:txBody>
      </p:sp>
      <p:sp>
        <p:nvSpPr>
          <p:cNvPr id="12" name="Shape 10"/>
          <p:cNvSpPr/>
          <p:nvPr/>
        </p:nvSpPr>
        <p:spPr>
          <a:xfrm>
            <a:off x="2560320" y="2825496"/>
            <a:ext cx="4086225" cy="365760"/>
          </a:xfrm>
          <a:prstGeom prst="roundRect">
            <a:avLst>
              <a:gd name="adj" fmla="val 10000"/>
            </a:avLst>
          </a:prstGeom>
          <a:solidFill>
            <a:srgbClr val="1A1A2E"/>
          </a:solidFill>
          <a:ln/>
        </p:spPr>
        <p:txBody>
          <a:bodyPr/>
          <a:lstStyle/>
          <a:p>
            <a:endParaRPr lang="en-US"/>
          </a:p>
        </p:txBody>
      </p:sp>
      <p:sp>
        <p:nvSpPr>
          <p:cNvPr id="13" name="Text 11"/>
          <p:cNvSpPr/>
          <p:nvPr/>
        </p:nvSpPr>
        <p:spPr>
          <a:xfrm>
            <a:off x="6737985" y="2779776"/>
            <a:ext cx="548640" cy="457200"/>
          </a:xfrm>
          <a:prstGeom prst="rect">
            <a:avLst/>
          </a:prstGeom>
          <a:noFill/>
          <a:ln/>
        </p:spPr>
        <p:txBody>
          <a:bodyPr wrap="square" rtlCol="0" anchor="ctr"/>
          <a:lstStyle/>
          <a:p>
            <a:pPr marL="0" indent="0">
              <a:buNone/>
            </a:pPr>
            <a:r>
              <a:rPr lang="en-US" sz="1100" b="1" dirty="0">
                <a:solidFill>
                  <a:srgbClr val="334155"/>
                </a:solidFill>
                <a:latin typeface="Arial" pitchFamily="34" charset="0"/>
                <a:ea typeface="Arial" pitchFamily="34" charset="-122"/>
                <a:cs typeface="Arial" pitchFamily="34" charset="-120"/>
              </a:rPr>
              <a:t>55</a:t>
            </a:r>
            <a:endParaRPr lang="en-US" sz="1100" dirty="0"/>
          </a:p>
        </p:txBody>
      </p:sp>
      <p:sp>
        <p:nvSpPr>
          <p:cNvPr id="14" name="Text 12"/>
          <p:cNvSpPr/>
          <p:nvPr/>
        </p:nvSpPr>
        <p:spPr>
          <a:xfrm>
            <a:off x="365760" y="3346704"/>
            <a:ext cx="2103120" cy="457200"/>
          </a:xfrm>
          <a:prstGeom prst="rect">
            <a:avLst/>
          </a:prstGeom>
          <a:noFill/>
          <a:ln/>
        </p:spPr>
        <p:txBody>
          <a:bodyPr wrap="square" rtlCol="0" anchor="ctr"/>
          <a:lstStyle/>
          <a:p>
            <a:pPr marL="0" indent="0" algn="r">
              <a:buNone/>
            </a:pPr>
            <a:r>
              <a:rPr lang="en-US" sz="1100" dirty="0">
                <a:solidFill>
                  <a:srgbClr val="334155"/>
                </a:solidFill>
                <a:latin typeface="Arial" pitchFamily="34" charset="0"/>
                <a:ea typeface="Arial" pitchFamily="34" charset="-122"/>
                <a:cs typeface="Arial" pitchFamily="34" charset="-120"/>
              </a:rPr>
              <a:t>Manufacturing</a:t>
            </a:r>
            <a:endParaRPr lang="en-US" sz="1100" dirty="0"/>
          </a:p>
        </p:txBody>
      </p:sp>
      <p:sp>
        <p:nvSpPr>
          <p:cNvPr id="15" name="Shape 13"/>
          <p:cNvSpPr/>
          <p:nvPr/>
        </p:nvSpPr>
        <p:spPr>
          <a:xfrm>
            <a:off x="2560320" y="3392424"/>
            <a:ext cx="3714750" cy="365760"/>
          </a:xfrm>
          <a:prstGeom prst="roundRect">
            <a:avLst>
              <a:gd name="adj" fmla="val 10000"/>
            </a:avLst>
          </a:prstGeom>
          <a:solidFill>
            <a:srgbClr val="1A1A2E"/>
          </a:solidFill>
          <a:ln/>
        </p:spPr>
        <p:txBody>
          <a:bodyPr/>
          <a:lstStyle/>
          <a:p>
            <a:endParaRPr lang="en-US"/>
          </a:p>
        </p:txBody>
      </p:sp>
      <p:sp>
        <p:nvSpPr>
          <p:cNvPr id="16" name="Text 14"/>
          <p:cNvSpPr/>
          <p:nvPr/>
        </p:nvSpPr>
        <p:spPr>
          <a:xfrm>
            <a:off x="6366510" y="3346704"/>
            <a:ext cx="548640" cy="457200"/>
          </a:xfrm>
          <a:prstGeom prst="rect">
            <a:avLst/>
          </a:prstGeom>
          <a:noFill/>
          <a:ln/>
        </p:spPr>
        <p:txBody>
          <a:bodyPr wrap="square" rtlCol="0" anchor="ctr"/>
          <a:lstStyle/>
          <a:p>
            <a:pPr marL="0" indent="0">
              <a:buNone/>
            </a:pPr>
            <a:r>
              <a:rPr lang="en-US" sz="1100" b="1" dirty="0">
                <a:solidFill>
                  <a:srgbClr val="334155"/>
                </a:solidFill>
                <a:latin typeface="Arial" pitchFamily="34" charset="0"/>
                <a:ea typeface="Arial" pitchFamily="34" charset="-122"/>
                <a:cs typeface="Arial" pitchFamily="34" charset="-120"/>
              </a:rPr>
              <a:t>50</a:t>
            </a:r>
            <a:endParaRPr lang="en-US" sz="1100" dirty="0"/>
          </a:p>
        </p:txBody>
      </p:sp>
      <p:sp>
        <p:nvSpPr>
          <p:cNvPr id="17" name="Text 15"/>
          <p:cNvSpPr/>
          <p:nvPr/>
        </p:nvSpPr>
        <p:spPr>
          <a:xfrm>
            <a:off x="365760" y="3913632"/>
            <a:ext cx="2103120" cy="457200"/>
          </a:xfrm>
          <a:prstGeom prst="rect">
            <a:avLst/>
          </a:prstGeom>
          <a:noFill/>
          <a:ln/>
        </p:spPr>
        <p:txBody>
          <a:bodyPr wrap="square" rtlCol="0" anchor="ctr"/>
          <a:lstStyle/>
          <a:p>
            <a:pPr marL="0" indent="0" algn="r">
              <a:buNone/>
            </a:pPr>
            <a:r>
              <a:rPr lang="en-US" sz="1100" dirty="0">
                <a:solidFill>
                  <a:srgbClr val="334155"/>
                </a:solidFill>
                <a:latin typeface="Arial" pitchFamily="34" charset="0"/>
                <a:ea typeface="Arial" pitchFamily="34" charset="-122"/>
                <a:cs typeface="Arial" pitchFamily="34" charset="-120"/>
              </a:rPr>
              <a:t>Env. Monitoring</a:t>
            </a:r>
            <a:endParaRPr lang="en-US" sz="1100" dirty="0"/>
          </a:p>
        </p:txBody>
      </p:sp>
      <p:sp>
        <p:nvSpPr>
          <p:cNvPr id="18" name="Shape 16"/>
          <p:cNvSpPr/>
          <p:nvPr/>
        </p:nvSpPr>
        <p:spPr>
          <a:xfrm>
            <a:off x="2560320" y="3959352"/>
            <a:ext cx="2600325" cy="365760"/>
          </a:xfrm>
          <a:prstGeom prst="roundRect">
            <a:avLst>
              <a:gd name="adj" fmla="val 10000"/>
            </a:avLst>
          </a:prstGeom>
          <a:solidFill>
            <a:srgbClr val="1A1A2E"/>
          </a:solidFill>
          <a:ln/>
        </p:spPr>
        <p:txBody>
          <a:bodyPr/>
          <a:lstStyle/>
          <a:p>
            <a:endParaRPr lang="en-US"/>
          </a:p>
        </p:txBody>
      </p:sp>
      <p:sp>
        <p:nvSpPr>
          <p:cNvPr id="19" name="Text 17"/>
          <p:cNvSpPr/>
          <p:nvPr/>
        </p:nvSpPr>
        <p:spPr>
          <a:xfrm>
            <a:off x="5252085" y="3913632"/>
            <a:ext cx="548640" cy="457200"/>
          </a:xfrm>
          <a:prstGeom prst="rect">
            <a:avLst/>
          </a:prstGeom>
          <a:noFill/>
          <a:ln/>
        </p:spPr>
        <p:txBody>
          <a:bodyPr wrap="square" rtlCol="0" anchor="ctr"/>
          <a:lstStyle/>
          <a:p>
            <a:pPr marL="0" indent="0">
              <a:buNone/>
            </a:pPr>
            <a:r>
              <a:rPr lang="en-US" sz="1100" b="1" dirty="0">
                <a:solidFill>
                  <a:srgbClr val="334155"/>
                </a:solidFill>
                <a:latin typeface="Arial" pitchFamily="34" charset="0"/>
                <a:ea typeface="Arial" pitchFamily="34" charset="-122"/>
                <a:cs typeface="Arial" pitchFamily="34" charset="-120"/>
              </a:rPr>
              <a:t>35</a:t>
            </a:r>
            <a:endParaRPr lang="en-US" sz="1100" dirty="0"/>
          </a:p>
        </p:txBody>
      </p:sp>
      <p:sp>
        <p:nvSpPr>
          <p:cNvPr id="20" name="Text 18"/>
          <p:cNvSpPr/>
          <p:nvPr/>
        </p:nvSpPr>
        <p:spPr>
          <a:xfrm>
            <a:off x="365760" y="4480560"/>
            <a:ext cx="2103120" cy="457200"/>
          </a:xfrm>
          <a:prstGeom prst="rect">
            <a:avLst/>
          </a:prstGeom>
          <a:noFill/>
          <a:ln/>
        </p:spPr>
        <p:txBody>
          <a:bodyPr wrap="square" rtlCol="0" anchor="ctr"/>
          <a:lstStyle/>
          <a:p>
            <a:pPr marL="0" indent="0" algn="r">
              <a:buNone/>
            </a:pPr>
            <a:r>
              <a:rPr lang="en-US" sz="1100" dirty="0">
                <a:solidFill>
                  <a:srgbClr val="334155"/>
                </a:solidFill>
                <a:latin typeface="Arial" pitchFamily="34" charset="0"/>
                <a:ea typeface="Arial" pitchFamily="34" charset="-122"/>
                <a:cs typeface="Arial" pitchFamily="34" charset="-120"/>
              </a:rPr>
              <a:t>Packaging</a:t>
            </a:r>
            <a:endParaRPr lang="en-US" sz="1100" dirty="0"/>
          </a:p>
        </p:txBody>
      </p:sp>
      <p:sp>
        <p:nvSpPr>
          <p:cNvPr id="21" name="Shape 19"/>
          <p:cNvSpPr/>
          <p:nvPr/>
        </p:nvSpPr>
        <p:spPr>
          <a:xfrm>
            <a:off x="2560320" y="4526280"/>
            <a:ext cx="2228850" cy="365760"/>
          </a:xfrm>
          <a:prstGeom prst="roundRect">
            <a:avLst>
              <a:gd name="adj" fmla="val 10000"/>
            </a:avLst>
          </a:prstGeom>
          <a:solidFill>
            <a:srgbClr val="1A1A2E"/>
          </a:solidFill>
          <a:ln/>
        </p:spPr>
        <p:txBody>
          <a:bodyPr/>
          <a:lstStyle/>
          <a:p>
            <a:endParaRPr lang="en-US"/>
          </a:p>
        </p:txBody>
      </p:sp>
      <p:sp>
        <p:nvSpPr>
          <p:cNvPr id="22" name="Text 20"/>
          <p:cNvSpPr/>
          <p:nvPr/>
        </p:nvSpPr>
        <p:spPr>
          <a:xfrm>
            <a:off x="4880610" y="4480560"/>
            <a:ext cx="548640" cy="457200"/>
          </a:xfrm>
          <a:prstGeom prst="rect">
            <a:avLst/>
          </a:prstGeom>
          <a:noFill/>
          <a:ln/>
        </p:spPr>
        <p:txBody>
          <a:bodyPr wrap="square" rtlCol="0" anchor="ctr"/>
          <a:lstStyle/>
          <a:p>
            <a:pPr marL="0" indent="0">
              <a:buNone/>
            </a:pPr>
            <a:r>
              <a:rPr lang="en-US" sz="1100" b="1" dirty="0">
                <a:solidFill>
                  <a:srgbClr val="334155"/>
                </a:solidFill>
                <a:latin typeface="Arial" pitchFamily="34" charset="0"/>
                <a:ea typeface="Arial" pitchFamily="34" charset="-122"/>
                <a:cs typeface="Arial" pitchFamily="34" charset="-120"/>
              </a:rPr>
              <a:t>30</a:t>
            </a:r>
            <a:endParaRPr lang="en-US" sz="1100" dirty="0"/>
          </a:p>
        </p:txBody>
      </p:sp>
      <p:sp>
        <p:nvSpPr>
          <p:cNvPr id="23" name="Text 21"/>
          <p:cNvSpPr/>
          <p:nvPr/>
        </p:nvSpPr>
        <p:spPr>
          <a:xfrm>
            <a:off x="365760" y="5047488"/>
            <a:ext cx="2103120" cy="457200"/>
          </a:xfrm>
          <a:prstGeom prst="rect">
            <a:avLst/>
          </a:prstGeom>
          <a:noFill/>
          <a:ln/>
        </p:spPr>
        <p:txBody>
          <a:bodyPr wrap="square" rtlCol="0" anchor="ctr"/>
          <a:lstStyle/>
          <a:p>
            <a:pPr marL="0" indent="0" algn="r">
              <a:buNone/>
            </a:pPr>
            <a:r>
              <a:rPr lang="en-US" sz="1100" dirty="0">
                <a:solidFill>
                  <a:srgbClr val="334155"/>
                </a:solidFill>
                <a:latin typeface="Arial" pitchFamily="34" charset="0"/>
                <a:ea typeface="Arial" pitchFamily="34" charset="-122"/>
                <a:cs typeface="Arial" pitchFamily="34" charset="-120"/>
              </a:rPr>
              <a:t>Warehouse</a:t>
            </a:r>
            <a:endParaRPr lang="en-US" sz="1100" dirty="0"/>
          </a:p>
        </p:txBody>
      </p:sp>
      <p:sp>
        <p:nvSpPr>
          <p:cNvPr id="24" name="Shape 22"/>
          <p:cNvSpPr/>
          <p:nvPr/>
        </p:nvSpPr>
        <p:spPr>
          <a:xfrm>
            <a:off x="2560320" y="5093208"/>
            <a:ext cx="1857375" cy="365760"/>
          </a:xfrm>
          <a:prstGeom prst="roundRect">
            <a:avLst>
              <a:gd name="adj" fmla="val 10000"/>
            </a:avLst>
          </a:prstGeom>
          <a:solidFill>
            <a:srgbClr val="1A1A2E"/>
          </a:solidFill>
          <a:ln/>
        </p:spPr>
        <p:txBody>
          <a:bodyPr/>
          <a:lstStyle/>
          <a:p>
            <a:endParaRPr lang="en-US"/>
          </a:p>
        </p:txBody>
      </p:sp>
      <p:sp>
        <p:nvSpPr>
          <p:cNvPr id="25" name="Text 23"/>
          <p:cNvSpPr/>
          <p:nvPr/>
        </p:nvSpPr>
        <p:spPr>
          <a:xfrm>
            <a:off x="4509135" y="5047488"/>
            <a:ext cx="548640" cy="457200"/>
          </a:xfrm>
          <a:prstGeom prst="rect">
            <a:avLst/>
          </a:prstGeom>
          <a:noFill/>
          <a:ln/>
        </p:spPr>
        <p:txBody>
          <a:bodyPr wrap="square" rtlCol="0" anchor="ctr"/>
          <a:lstStyle/>
          <a:p>
            <a:pPr marL="0" indent="0">
              <a:buNone/>
            </a:pPr>
            <a:r>
              <a:rPr lang="en-US" sz="1100" b="1" dirty="0">
                <a:solidFill>
                  <a:srgbClr val="334155"/>
                </a:solidFill>
                <a:latin typeface="Arial" pitchFamily="34" charset="0"/>
                <a:ea typeface="Arial" pitchFamily="34" charset="-122"/>
                <a:cs typeface="Arial" pitchFamily="34" charset="-120"/>
              </a:rPr>
              <a:t>25</a:t>
            </a:r>
            <a:endParaRPr lang="en-US" sz="1100" dirty="0"/>
          </a:p>
        </p:txBody>
      </p:sp>
      <p:sp>
        <p:nvSpPr>
          <p:cNvPr id="26" name="Text 24"/>
          <p:cNvSpPr/>
          <p:nvPr/>
        </p:nvSpPr>
        <p:spPr>
          <a:xfrm>
            <a:off x="365760" y="5614416"/>
            <a:ext cx="2103120" cy="457200"/>
          </a:xfrm>
          <a:prstGeom prst="rect">
            <a:avLst/>
          </a:prstGeom>
          <a:noFill/>
          <a:ln/>
        </p:spPr>
        <p:txBody>
          <a:bodyPr wrap="square" rtlCol="0" anchor="ctr"/>
          <a:lstStyle/>
          <a:p>
            <a:pPr marL="0" indent="0" algn="r">
              <a:buNone/>
            </a:pPr>
            <a:r>
              <a:rPr lang="en-US" sz="1100" dirty="0">
                <a:solidFill>
                  <a:srgbClr val="334155"/>
                </a:solidFill>
                <a:latin typeface="Arial" pitchFamily="34" charset="0"/>
                <a:ea typeface="Arial" pitchFamily="34" charset="-122"/>
                <a:cs typeface="Arial" pitchFamily="34" charset="-120"/>
              </a:rPr>
              <a:t>Doc Control</a:t>
            </a:r>
            <a:endParaRPr lang="en-US" sz="1100" dirty="0"/>
          </a:p>
        </p:txBody>
      </p:sp>
      <p:sp>
        <p:nvSpPr>
          <p:cNvPr id="27" name="Shape 25"/>
          <p:cNvSpPr/>
          <p:nvPr/>
        </p:nvSpPr>
        <p:spPr>
          <a:xfrm>
            <a:off x="2560320" y="5660136"/>
            <a:ext cx="1485900" cy="365760"/>
          </a:xfrm>
          <a:prstGeom prst="roundRect">
            <a:avLst>
              <a:gd name="adj" fmla="val 10000"/>
            </a:avLst>
          </a:prstGeom>
          <a:solidFill>
            <a:srgbClr val="1A1A2E"/>
          </a:solidFill>
          <a:ln/>
        </p:spPr>
        <p:txBody>
          <a:bodyPr/>
          <a:lstStyle/>
          <a:p>
            <a:endParaRPr lang="en-US"/>
          </a:p>
        </p:txBody>
      </p:sp>
      <p:sp>
        <p:nvSpPr>
          <p:cNvPr id="28" name="Text 26"/>
          <p:cNvSpPr/>
          <p:nvPr/>
        </p:nvSpPr>
        <p:spPr>
          <a:xfrm>
            <a:off x="4137660" y="5614416"/>
            <a:ext cx="548640" cy="457200"/>
          </a:xfrm>
          <a:prstGeom prst="rect">
            <a:avLst/>
          </a:prstGeom>
          <a:noFill/>
          <a:ln/>
        </p:spPr>
        <p:txBody>
          <a:bodyPr wrap="square" rtlCol="0" anchor="ctr"/>
          <a:lstStyle/>
          <a:p>
            <a:pPr marL="0" indent="0">
              <a:buNone/>
            </a:pPr>
            <a:r>
              <a:rPr lang="en-US" sz="1100" b="1" dirty="0">
                <a:solidFill>
                  <a:srgbClr val="334155"/>
                </a:solidFill>
                <a:latin typeface="Arial" pitchFamily="34" charset="0"/>
                <a:ea typeface="Arial" pitchFamily="34" charset="-122"/>
                <a:cs typeface="Arial" pitchFamily="34" charset="-120"/>
              </a:rPr>
              <a:t>20</a:t>
            </a:r>
            <a:endParaRPr lang="en-US" sz="1100" dirty="0"/>
          </a:p>
        </p:txBody>
      </p:sp>
      <p:sp>
        <p:nvSpPr>
          <p:cNvPr id="29" name="Shape 27"/>
          <p:cNvSpPr/>
          <p:nvPr/>
        </p:nvSpPr>
        <p:spPr>
          <a:xfrm>
            <a:off x="548640" y="6044184"/>
            <a:ext cx="11064240" cy="457200"/>
          </a:xfrm>
          <a:prstGeom prst="roundRect">
            <a:avLst>
              <a:gd name="adj" fmla="val 12000"/>
            </a:avLst>
          </a:prstGeom>
          <a:solidFill>
            <a:srgbClr val="F25E6B"/>
          </a:solidFill>
          <a:ln/>
        </p:spPr>
        <p:txBody>
          <a:bodyPr/>
          <a:lstStyle/>
          <a:p>
            <a:endParaRPr lang="en-US"/>
          </a:p>
        </p:txBody>
      </p:sp>
      <p:sp>
        <p:nvSpPr>
          <p:cNvPr id="30" name="Text 28"/>
          <p:cNvSpPr/>
          <p:nvPr/>
        </p:nvSpPr>
        <p:spPr>
          <a:xfrm>
            <a:off x="731520" y="6044184"/>
            <a:ext cx="10698480"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Cleaning is #1 sprawl: 60–80+ SOPs per site. 10–15 describe nearly identical steps.</a:t>
            </a:r>
            <a:endParaRPr lang="en-US" sz="1200" dirty="0"/>
          </a:p>
        </p:txBody>
      </p:sp>
      <p:sp>
        <p:nvSpPr>
          <p:cNvPr id="31" name="Text 29"/>
          <p:cNvSpPr/>
          <p:nvPr/>
        </p:nvSpPr>
        <p:spPr>
          <a:xfrm>
            <a:off x="0" y="6400800"/>
            <a:ext cx="12188952" cy="36576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Confidential | Counts are illustrative industry estimates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a:effectLst/>
      </p:bgPr>
    </p:bg>
    <p:spTree>
      <p:nvGrpSpPr>
        <p:cNvPr id="1" name=""/>
        <p:cNvGrpSpPr/>
        <p:nvPr/>
      </p:nvGrpSpPr>
      <p:grpSpPr>
        <a:xfrm>
          <a:off x="0" y="0"/>
          <a:ext cx="0" cy="0"/>
          <a:chOff x="0" y="0"/>
          <a:chExt cx="0" cy="0"/>
        </a:xfrm>
      </p:grpSpPr>
      <p:sp>
        <p:nvSpPr>
          <p:cNvPr id="2" name="Text 0"/>
          <p:cNvSpPr/>
          <p:nvPr/>
        </p:nvSpPr>
        <p:spPr>
          <a:xfrm>
            <a:off x="0" y="1828800"/>
            <a:ext cx="12188952" cy="91440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3" name="Text 1"/>
          <p:cNvSpPr/>
          <p:nvPr/>
        </p:nvSpPr>
        <p:spPr>
          <a:xfrm>
            <a:off x="0" y="2743200"/>
            <a:ext cx="12188952" cy="731520"/>
          </a:xfrm>
          <a:prstGeom prst="rect">
            <a:avLst/>
          </a:prstGeom>
          <a:noFill/>
          <a:ln/>
        </p:spPr>
        <p:txBody>
          <a:bodyPr wrap="square" rtlCol="0" anchor="ctr"/>
          <a:lstStyle/>
          <a:p>
            <a:pPr marL="0" indent="0" algn="ctr">
              <a:buNone/>
            </a:pPr>
            <a:r>
              <a:rPr lang="en-US" sz="3600" b="1" dirty="0">
                <a:solidFill>
                  <a:srgbClr val="FFFFFF"/>
                </a:solidFill>
                <a:latin typeface="Arial Black" pitchFamily="34" charset="0"/>
                <a:ea typeface="Arial Black" pitchFamily="34" charset="-122"/>
                <a:cs typeface="Arial Black" pitchFamily="34" charset="-120"/>
              </a:rPr>
              <a:t>The Solution</a:t>
            </a:r>
            <a:endParaRPr lang="en-US" sz="3600" dirty="0"/>
          </a:p>
        </p:txBody>
      </p:sp>
      <p:sp>
        <p:nvSpPr>
          <p:cNvPr id="4" name="Text 2"/>
          <p:cNvSpPr/>
          <p:nvPr/>
        </p:nvSpPr>
        <p:spPr>
          <a:xfrm>
            <a:off x="1371600" y="3566160"/>
            <a:ext cx="9445752" cy="548640"/>
          </a:xfrm>
          <a:prstGeom prst="rect">
            <a:avLst/>
          </a:prstGeom>
          <a:noFill/>
          <a:ln/>
        </p:spPr>
        <p:txBody>
          <a:bodyPr wrap="square" rtlCol="0" anchor="ctr"/>
          <a:lstStyle/>
          <a:p>
            <a:pPr marL="0" indent="0" algn="ctr">
              <a:buNone/>
            </a:pPr>
            <a:r>
              <a:rPr lang="en-US" sz="1600" dirty="0">
                <a:solidFill>
                  <a:srgbClr val="64748B"/>
                </a:solidFill>
                <a:latin typeface="Arial" pitchFamily="34" charset="0"/>
                <a:ea typeface="Arial" pitchFamily="34" charset="-122"/>
                <a:cs typeface="Arial" pitchFamily="34" charset="-120"/>
              </a:rPr>
              <a:t>AI + Human-in-the-Loop SOP Quality Transformation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Phased Approach</a:t>
            </a:r>
            <a:endParaRPr lang="en-US" sz="2800" dirty="0"/>
          </a:p>
        </p:txBody>
      </p:sp>
      <p:sp>
        <p:nvSpPr>
          <p:cNvPr id="4" name="Shape 2"/>
          <p:cNvSpPr/>
          <p:nvPr/>
        </p:nvSpPr>
        <p:spPr>
          <a:xfrm>
            <a:off x="640080" y="1417320"/>
            <a:ext cx="548640" cy="548640"/>
          </a:xfrm>
          <a:prstGeom prst="ellipse">
            <a:avLst/>
          </a:prstGeom>
          <a:solidFill>
            <a:srgbClr val="F25E6B"/>
          </a:solidFill>
          <a:ln/>
        </p:spPr>
        <p:txBody>
          <a:bodyPr/>
          <a:lstStyle/>
          <a:p>
            <a:endParaRPr lang="en-US"/>
          </a:p>
        </p:txBody>
      </p:sp>
      <p:sp>
        <p:nvSpPr>
          <p:cNvPr id="5" name="Text 3"/>
          <p:cNvSpPr/>
          <p:nvPr/>
        </p:nvSpPr>
        <p:spPr>
          <a:xfrm>
            <a:off x="640080" y="1417320"/>
            <a:ext cx="548640" cy="548640"/>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a:t>
            </a:r>
            <a:endParaRPr lang="en-US" sz="1600" dirty="0"/>
          </a:p>
        </p:txBody>
      </p:sp>
      <p:sp>
        <p:nvSpPr>
          <p:cNvPr id="6" name="Text 4"/>
          <p:cNvSpPr/>
          <p:nvPr/>
        </p:nvSpPr>
        <p:spPr>
          <a:xfrm>
            <a:off x="1371600" y="1371600"/>
            <a:ext cx="9144000" cy="365760"/>
          </a:xfrm>
          <a:prstGeom prst="rect">
            <a:avLst/>
          </a:prstGeom>
          <a:noFill/>
          <a:ln/>
        </p:spPr>
        <p:txBody>
          <a:bodyPr wrap="square" rtlCol="0" anchor="ctr"/>
          <a:lstStyle/>
          <a:p>
            <a:pPr marL="0" indent="0">
              <a:buNone/>
            </a:pPr>
            <a:r>
              <a:rPr lang="en-US" sz="1400" b="1" dirty="0">
                <a:solidFill>
                  <a:srgbClr val="0D0D0D"/>
                </a:solidFill>
                <a:latin typeface="Arial Black" pitchFamily="34" charset="0"/>
                <a:ea typeface="Arial Black" pitchFamily="34" charset="-122"/>
                <a:cs typeface="Arial Black" pitchFamily="34" charset="-120"/>
              </a:rPr>
              <a:t>Phase 0: Discovery &amp; Regulatory Mapping</a:t>
            </a:r>
            <a:endParaRPr lang="en-US" sz="1400" dirty="0"/>
          </a:p>
        </p:txBody>
      </p:sp>
      <p:sp>
        <p:nvSpPr>
          <p:cNvPr id="7" name="Text 5"/>
          <p:cNvSpPr/>
          <p:nvPr/>
        </p:nvSpPr>
        <p:spPr>
          <a:xfrm>
            <a:off x="1371600" y="1737360"/>
            <a:ext cx="9601200" cy="457200"/>
          </a:xfrm>
          <a:prstGeom prst="rect">
            <a:avLst/>
          </a:prstGeom>
          <a:noFill/>
          <a:ln/>
        </p:spPr>
        <p:txBody>
          <a:bodyPr wrap="square" rtlCol="0" anchor="ctr"/>
          <a:lstStyle/>
          <a:p>
            <a:pPr marL="0" indent="0">
              <a:buNone/>
            </a:pPr>
            <a:r>
              <a:rPr lang="en-US" sz="1100" dirty="0">
                <a:solidFill>
                  <a:srgbClr val="334155"/>
                </a:solidFill>
                <a:latin typeface="Arial" pitchFamily="34" charset="0"/>
                <a:ea typeface="Arial" pitchFamily="34" charset="-122"/>
                <a:cs typeface="Arial" pitchFamily="34" charset="-120"/>
              </a:rPr>
              <a:t>Map the client’s AI ecosystem, DMS/QMS infrastructure, and full regulatory landscape for AI in GMP</a:t>
            </a:r>
            <a:endParaRPr lang="en-US" sz="1100" dirty="0"/>
          </a:p>
        </p:txBody>
      </p:sp>
      <p:sp>
        <p:nvSpPr>
          <p:cNvPr id="8" name="Shape 6"/>
          <p:cNvSpPr/>
          <p:nvPr/>
        </p:nvSpPr>
        <p:spPr>
          <a:xfrm>
            <a:off x="640080" y="2377440"/>
            <a:ext cx="548640" cy="548640"/>
          </a:xfrm>
          <a:prstGeom prst="ellipse">
            <a:avLst/>
          </a:prstGeom>
          <a:solidFill>
            <a:srgbClr val="F25E6B"/>
          </a:solidFill>
          <a:ln/>
        </p:spPr>
        <p:txBody>
          <a:bodyPr/>
          <a:lstStyle/>
          <a:p>
            <a:endParaRPr lang="en-US"/>
          </a:p>
        </p:txBody>
      </p:sp>
      <p:sp>
        <p:nvSpPr>
          <p:cNvPr id="9" name="Text 7"/>
          <p:cNvSpPr/>
          <p:nvPr/>
        </p:nvSpPr>
        <p:spPr>
          <a:xfrm>
            <a:off x="640080" y="2377440"/>
            <a:ext cx="548640" cy="548640"/>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10" name="Text 8"/>
          <p:cNvSpPr/>
          <p:nvPr/>
        </p:nvSpPr>
        <p:spPr>
          <a:xfrm>
            <a:off x="1371600" y="2331720"/>
            <a:ext cx="9144000" cy="365760"/>
          </a:xfrm>
          <a:prstGeom prst="rect">
            <a:avLst/>
          </a:prstGeom>
          <a:noFill/>
          <a:ln/>
        </p:spPr>
        <p:txBody>
          <a:bodyPr wrap="square" rtlCol="0" anchor="ctr"/>
          <a:lstStyle/>
          <a:p>
            <a:pPr marL="0" indent="0">
              <a:buNone/>
            </a:pPr>
            <a:r>
              <a:rPr lang="en-US" sz="1400" b="1" dirty="0">
                <a:solidFill>
                  <a:srgbClr val="0D0D0D"/>
                </a:solidFill>
                <a:latin typeface="Arial Black" pitchFamily="34" charset="0"/>
                <a:ea typeface="Arial Black" pitchFamily="34" charset="-122"/>
                <a:cs typeface="Arial Black" pitchFamily="34" charset="-120"/>
              </a:rPr>
              <a:t>Phase 1: SOP Landscape Assessment</a:t>
            </a:r>
            <a:endParaRPr lang="en-US" sz="1400" dirty="0"/>
          </a:p>
        </p:txBody>
      </p:sp>
      <p:sp>
        <p:nvSpPr>
          <p:cNvPr id="11" name="Text 9"/>
          <p:cNvSpPr/>
          <p:nvPr/>
        </p:nvSpPr>
        <p:spPr>
          <a:xfrm>
            <a:off x="1371600" y="2697480"/>
            <a:ext cx="9601200" cy="457200"/>
          </a:xfrm>
          <a:prstGeom prst="rect">
            <a:avLst/>
          </a:prstGeom>
          <a:noFill/>
          <a:ln/>
        </p:spPr>
        <p:txBody>
          <a:bodyPr wrap="square" rtlCol="0" anchor="ctr"/>
          <a:lstStyle/>
          <a:p>
            <a:pPr marL="0" indent="0">
              <a:buNone/>
            </a:pPr>
            <a:r>
              <a:rPr lang="en-US" sz="1100" dirty="0">
                <a:solidFill>
                  <a:srgbClr val="334155"/>
                </a:solidFill>
                <a:latin typeface="Arial" pitchFamily="34" charset="0"/>
                <a:ea typeface="Arial" pitchFamily="34" charset="-122"/>
                <a:cs typeface="Arial" pitchFamily="34" charset="-120"/>
              </a:rPr>
              <a:t>Corpus analysis: cosine similarity, MinHash, readability scoring, dependency mapping, regulatory reference audit</a:t>
            </a:r>
            <a:endParaRPr lang="en-US" sz="1100" dirty="0"/>
          </a:p>
        </p:txBody>
      </p:sp>
      <p:sp>
        <p:nvSpPr>
          <p:cNvPr id="12" name="Shape 10"/>
          <p:cNvSpPr/>
          <p:nvPr/>
        </p:nvSpPr>
        <p:spPr>
          <a:xfrm>
            <a:off x="640080" y="3337560"/>
            <a:ext cx="548640" cy="548640"/>
          </a:xfrm>
          <a:prstGeom prst="ellipse">
            <a:avLst/>
          </a:prstGeom>
          <a:solidFill>
            <a:srgbClr val="F25E6B"/>
          </a:solidFill>
          <a:ln/>
        </p:spPr>
        <p:txBody>
          <a:bodyPr/>
          <a:lstStyle/>
          <a:p>
            <a:endParaRPr lang="en-US"/>
          </a:p>
        </p:txBody>
      </p:sp>
      <p:sp>
        <p:nvSpPr>
          <p:cNvPr id="13" name="Text 11"/>
          <p:cNvSpPr/>
          <p:nvPr/>
        </p:nvSpPr>
        <p:spPr>
          <a:xfrm>
            <a:off x="640080" y="3337560"/>
            <a:ext cx="548640" cy="548640"/>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14" name="Text 12"/>
          <p:cNvSpPr/>
          <p:nvPr/>
        </p:nvSpPr>
        <p:spPr>
          <a:xfrm>
            <a:off x="1371600" y="3291840"/>
            <a:ext cx="9144000" cy="365760"/>
          </a:xfrm>
          <a:prstGeom prst="rect">
            <a:avLst/>
          </a:prstGeom>
          <a:noFill/>
          <a:ln/>
        </p:spPr>
        <p:txBody>
          <a:bodyPr wrap="square" rtlCol="0" anchor="ctr"/>
          <a:lstStyle/>
          <a:p>
            <a:pPr marL="0" indent="0">
              <a:buNone/>
            </a:pPr>
            <a:r>
              <a:rPr lang="en-US" sz="1400" b="1" dirty="0">
                <a:solidFill>
                  <a:srgbClr val="0D0D0D"/>
                </a:solidFill>
                <a:latin typeface="Arial Black" pitchFamily="34" charset="0"/>
                <a:ea typeface="Arial Black" pitchFamily="34" charset="-122"/>
                <a:cs typeface="Arial Black" pitchFamily="34" charset="-120"/>
              </a:rPr>
              <a:t>Phase 2: AI-Assisted Rewriting</a:t>
            </a:r>
            <a:endParaRPr lang="en-US" sz="1400" dirty="0"/>
          </a:p>
        </p:txBody>
      </p:sp>
      <p:sp>
        <p:nvSpPr>
          <p:cNvPr id="15" name="Text 13"/>
          <p:cNvSpPr/>
          <p:nvPr/>
        </p:nvSpPr>
        <p:spPr>
          <a:xfrm>
            <a:off x="1371600" y="3657600"/>
            <a:ext cx="9601200" cy="457200"/>
          </a:xfrm>
          <a:prstGeom prst="rect">
            <a:avLst/>
          </a:prstGeom>
          <a:noFill/>
          <a:ln/>
        </p:spPr>
        <p:txBody>
          <a:bodyPr wrap="square" rtlCol="0" anchor="ctr"/>
          <a:lstStyle/>
          <a:p>
            <a:pPr marL="0" indent="0">
              <a:buNone/>
            </a:pPr>
            <a:r>
              <a:rPr lang="en-US" sz="1100" dirty="0">
                <a:solidFill>
                  <a:srgbClr val="334155"/>
                </a:solidFill>
                <a:latin typeface="Arial" pitchFamily="34" charset="0"/>
                <a:ea typeface="Arial" pitchFamily="34" charset="-122"/>
                <a:cs typeface="Arial" pitchFamily="34" charset="-120"/>
              </a:rPr>
              <a:t>LLM-drafted simplification, enrichment, merging with mandatory human-in-the-loop SME and QA review</a:t>
            </a:r>
            <a:endParaRPr lang="en-US" sz="1100" dirty="0"/>
          </a:p>
        </p:txBody>
      </p:sp>
      <p:sp>
        <p:nvSpPr>
          <p:cNvPr id="16" name="Shape 14"/>
          <p:cNvSpPr/>
          <p:nvPr/>
        </p:nvSpPr>
        <p:spPr>
          <a:xfrm>
            <a:off x="640080" y="4297680"/>
            <a:ext cx="548640" cy="548640"/>
          </a:xfrm>
          <a:prstGeom prst="ellipse">
            <a:avLst/>
          </a:prstGeom>
          <a:solidFill>
            <a:srgbClr val="F25E6B"/>
          </a:solidFill>
          <a:ln/>
        </p:spPr>
        <p:txBody>
          <a:bodyPr/>
          <a:lstStyle/>
          <a:p>
            <a:endParaRPr lang="en-US"/>
          </a:p>
        </p:txBody>
      </p:sp>
      <p:sp>
        <p:nvSpPr>
          <p:cNvPr id="17" name="Text 15"/>
          <p:cNvSpPr/>
          <p:nvPr/>
        </p:nvSpPr>
        <p:spPr>
          <a:xfrm>
            <a:off x="640080" y="4297680"/>
            <a:ext cx="548640" cy="548640"/>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8" name="Text 16"/>
          <p:cNvSpPr/>
          <p:nvPr/>
        </p:nvSpPr>
        <p:spPr>
          <a:xfrm>
            <a:off x="1371600" y="4251960"/>
            <a:ext cx="9144000" cy="365760"/>
          </a:xfrm>
          <a:prstGeom prst="rect">
            <a:avLst/>
          </a:prstGeom>
          <a:noFill/>
          <a:ln/>
        </p:spPr>
        <p:txBody>
          <a:bodyPr wrap="square" rtlCol="0" anchor="ctr"/>
          <a:lstStyle/>
          <a:p>
            <a:pPr marL="0" indent="0">
              <a:buNone/>
            </a:pPr>
            <a:r>
              <a:rPr lang="en-US" sz="1400" b="1" dirty="0">
                <a:solidFill>
                  <a:srgbClr val="0D0D0D"/>
                </a:solidFill>
                <a:latin typeface="Arial Black" pitchFamily="34" charset="0"/>
                <a:ea typeface="Arial Black" pitchFamily="34" charset="-122"/>
                <a:cs typeface="Arial Black" pitchFamily="34" charset="-120"/>
              </a:rPr>
              <a:t>Phase 3: Governance &amp; Lifecycle</a:t>
            </a:r>
            <a:endParaRPr lang="en-US" sz="1400" dirty="0"/>
          </a:p>
        </p:txBody>
      </p:sp>
      <p:sp>
        <p:nvSpPr>
          <p:cNvPr id="19" name="Text 17"/>
          <p:cNvSpPr/>
          <p:nvPr/>
        </p:nvSpPr>
        <p:spPr>
          <a:xfrm>
            <a:off x="1371600" y="4617720"/>
            <a:ext cx="9601200" cy="457200"/>
          </a:xfrm>
          <a:prstGeom prst="rect">
            <a:avLst/>
          </a:prstGeom>
          <a:noFill/>
          <a:ln/>
        </p:spPr>
        <p:txBody>
          <a:bodyPr wrap="square" rtlCol="0" anchor="ctr"/>
          <a:lstStyle/>
          <a:p>
            <a:pPr marL="0" indent="0">
              <a:buNone/>
            </a:pPr>
            <a:r>
              <a:rPr lang="en-US" sz="1100" dirty="0">
                <a:solidFill>
                  <a:srgbClr val="334155"/>
                </a:solidFill>
                <a:latin typeface="Arial" pitchFamily="34" charset="0"/>
                <a:ea typeface="Arial" pitchFamily="34" charset="-122"/>
                <a:cs typeface="Arial" pitchFamily="34" charset="-120"/>
              </a:rPr>
              <a:t>Automated review triggers, cross-reference checking, change-impact analysis, DMS integration</a:t>
            </a:r>
            <a:endParaRPr lang="en-US" sz="1100" dirty="0"/>
          </a:p>
        </p:txBody>
      </p:sp>
      <p:sp>
        <p:nvSpPr>
          <p:cNvPr id="20" name="Shape 18"/>
          <p:cNvSpPr/>
          <p:nvPr/>
        </p:nvSpPr>
        <p:spPr>
          <a:xfrm>
            <a:off x="640080" y="5257800"/>
            <a:ext cx="548640" cy="548640"/>
          </a:xfrm>
          <a:prstGeom prst="ellipse">
            <a:avLst/>
          </a:prstGeom>
          <a:solidFill>
            <a:srgbClr val="F25E6B"/>
          </a:solidFill>
          <a:ln/>
        </p:spPr>
        <p:txBody>
          <a:bodyPr/>
          <a:lstStyle/>
          <a:p>
            <a:endParaRPr lang="en-US"/>
          </a:p>
        </p:txBody>
      </p:sp>
      <p:sp>
        <p:nvSpPr>
          <p:cNvPr id="21" name="Text 19"/>
          <p:cNvSpPr/>
          <p:nvPr/>
        </p:nvSpPr>
        <p:spPr>
          <a:xfrm>
            <a:off x="640080" y="5257800"/>
            <a:ext cx="548640" cy="548640"/>
          </a:xfrm>
          <a:prstGeom prst="rect">
            <a:avLst/>
          </a:prstGeom>
          <a:no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22" name="Text 20"/>
          <p:cNvSpPr/>
          <p:nvPr/>
        </p:nvSpPr>
        <p:spPr>
          <a:xfrm>
            <a:off x="1371600" y="5212080"/>
            <a:ext cx="9144000" cy="365760"/>
          </a:xfrm>
          <a:prstGeom prst="rect">
            <a:avLst/>
          </a:prstGeom>
          <a:noFill/>
          <a:ln/>
        </p:spPr>
        <p:txBody>
          <a:bodyPr wrap="square" rtlCol="0" anchor="ctr"/>
          <a:lstStyle/>
          <a:p>
            <a:pPr marL="0" indent="0">
              <a:buNone/>
            </a:pPr>
            <a:r>
              <a:rPr lang="en-US" sz="1400" b="1" dirty="0">
                <a:solidFill>
                  <a:srgbClr val="0D0D0D"/>
                </a:solidFill>
                <a:latin typeface="Arial Black" pitchFamily="34" charset="0"/>
                <a:ea typeface="Arial Black" pitchFamily="34" charset="-122"/>
                <a:cs typeface="Arial Black" pitchFamily="34" charset="-120"/>
              </a:rPr>
              <a:t>Phase 4: Training Auto-Generation</a:t>
            </a:r>
            <a:endParaRPr lang="en-US" sz="1400" dirty="0"/>
          </a:p>
        </p:txBody>
      </p:sp>
      <p:sp>
        <p:nvSpPr>
          <p:cNvPr id="23" name="Text 21"/>
          <p:cNvSpPr/>
          <p:nvPr/>
        </p:nvSpPr>
        <p:spPr>
          <a:xfrm>
            <a:off x="1371600" y="5577840"/>
            <a:ext cx="9601200" cy="457200"/>
          </a:xfrm>
          <a:prstGeom prst="rect">
            <a:avLst/>
          </a:prstGeom>
          <a:noFill/>
          <a:ln/>
        </p:spPr>
        <p:txBody>
          <a:bodyPr wrap="square" rtlCol="0" anchor="ctr"/>
          <a:lstStyle/>
          <a:p>
            <a:pPr marL="0" indent="0">
              <a:buNone/>
            </a:pPr>
            <a:r>
              <a:rPr lang="en-US" sz="1100" dirty="0">
                <a:solidFill>
                  <a:srgbClr val="334155"/>
                </a:solidFill>
                <a:latin typeface="Arial" pitchFamily="34" charset="0"/>
                <a:ea typeface="Arial" pitchFamily="34" charset="-122"/>
                <a:cs typeface="Arial" pitchFamily="34" charset="-120"/>
              </a:rPr>
              <a:t>Role-based summaries, visual job aids, decision trees, assessment questions</a:t>
            </a:r>
            <a:endParaRPr lang="en-US" sz="1100" dirty="0"/>
          </a:p>
        </p:txBody>
      </p:sp>
      <p:sp>
        <p:nvSpPr>
          <p:cNvPr id="24" name="Text 22"/>
          <p:cNvSpPr/>
          <p:nvPr/>
        </p:nvSpPr>
        <p:spPr>
          <a:xfrm>
            <a:off x="0" y="6400800"/>
            <a:ext cx="12188952" cy="36576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Confidential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Phase 0 — Discovery &amp; Regulatory Mapping</a:t>
            </a:r>
            <a:endParaRPr lang="en-US" sz="2800" dirty="0"/>
          </a:p>
        </p:txBody>
      </p:sp>
      <p:sp>
        <p:nvSpPr>
          <p:cNvPr id="4" name="Text 2"/>
          <p:cNvSpPr/>
          <p:nvPr/>
        </p:nvSpPr>
        <p:spPr>
          <a:xfrm>
            <a:off x="731520" y="960120"/>
            <a:ext cx="9144000" cy="365760"/>
          </a:xfrm>
          <a:prstGeom prst="rect">
            <a:avLst/>
          </a:prstGeom>
          <a:noFill/>
          <a:ln/>
        </p:spPr>
        <p:txBody>
          <a:bodyPr wrap="square" rtlCol="0" anchor="ctr"/>
          <a:lstStyle/>
          <a:p>
            <a:pPr marL="0" indent="0">
              <a:buNone/>
            </a:pPr>
            <a:r>
              <a:rPr lang="en-US" sz="1400" dirty="0">
                <a:solidFill>
                  <a:srgbClr val="64748B"/>
                </a:solidFill>
                <a:latin typeface="Arial" pitchFamily="34" charset="0"/>
                <a:ea typeface="Arial" pitchFamily="34" charset="-122"/>
                <a:cs typeface="Arial" pitchFamily="34" charset="-120"/>
              </a:rPr>
              <a:t>Learn your world before proposing anything.</a:t>
            </a:r>
            <a:endParaRPr lang="en-US" sz="1400" dirty="0"/>
          </a:p>
        </p:txBody>
      </p:sp>
      <p:sp>
        <p:nvSpPr>
          <p:cNvPr id="5" name="Shape 3"/>
          <p:cNvSpPr/>
          <p:nvPr/>
        </p:nvSpPr>
        <p:spPr>
          <a:xfrm>
            <a:off x="548640" y="1554480"/>
            <a:ext cx="5120640" cy="3200400"/>
          </a:xfrm>
          <a:prstGeom prst="roundRect">
            <a:avLst>
              <a:gd name="adj" fmla="val 2857"/>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6" name="Text 4"/>
          <p:cNvSpPr/>
          <p:nvPr/>
        </p:nvSpPr>
        <p:spPr>
          <a:xfrm>
            <a:off x="685800" y="16459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Client AI Ecosystem</a:t>
            </a:r>
            <a:endParaRPr lang="en-US" sz="1300" dirty="0"/>
          </a:p>
        </p:txBody>
      </p:sp>
      <p:sp>
        <p:nvSpPr>
          <p:cNvPr id="7" name="Text 5"/>
          <p:cNvSpPr/>
          <p:nvPr/>
        </p:nvSpPr>
        <p:spPr>
          <a:xfrm>
            <a:off x="685800" y="1965960"/>
            <a:ext cx="4846320" cy="269748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  Internal AI/R&amp;D platforms</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AI decisioning &amp; automation tools</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Existing DMS/QMS infrastructure</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Internal AI governance policies</a:t>
            </a:r>
            <a:endParaRPr lang="en-US" sz="1050" dirty="0"/>
          </a:p>
        </p:txBody>
      </p:sp>
      <p:sp>
        <p:nvSpPr>
          <p:cNvPr id="8" name="Shape 6"/>
          <p:cNvSpPr/>
          <p:nvPr/>
        </p:nvSpPr>
        <p:spPr>
          <a:xfrm>
            <a:off x="6126480" y="1554480"/>
            <a:ext cx="5120640" cy="3200400"/>
          </a:xfrm>
          <a:prstGeom prst="roundRect">
            <a:avLst>
              <a:gd name="adj" fmla="val 2857"/>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9" name="Text 7"/>
          <p:cNvSpPr/>
          <p:nvPr/>
        </p:nvSpPr>
        <p:spPr>
          <a:xfrm>
            <a:off x="6263640" y="16459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Regulatory Landscape</a:t>
            </a:r>
            <a:endParaRPr lang="en-US" sz="1300" dirty="0"/>
          </a:p>
        </p:txBody>
      </p:sp>
      <p:sp>
        <p:nvSpPr>
          <p:cNvPr id="10" name="Text 8"/>
          <p:cNvSpPr/>
          <p:nvPr/>
        </p:nvSpPr>
        <p:spPr>
          <a:xfrm>
            <a:off x="6263640" y="1965960"/>
            <a:ext cx="4846320" cy="269748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  FDA AI Draft Guidance (Jan 2025)</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FDA-EMA AI Principles (Jan 2026)</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GMLP, PCCP, CSA, SaMD Action Plan</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FDA Cross-Center AI Coordination</a:t>
            </a:r>
            <a:endParaRPr lang="en-US" sz="1050" dirty="0"/>
          </a:p>
        </p:txBody>
      </p:sp>
      <p:sp>
        <p:nvSpPr>
          <p:cNvPr id="11" name="Shape 9"/>
          <p:cNvSpPr/>
          <p:nvPr/>
        </p:nvSpPr>
        <p:spPr>
          <a:xfrm>
            <a:off x="0" y="5943600"/>
            <a:ext cx="12188952" cy="502920"/>
          </a:xfrm>
          <a:prstGeom prst="rect">
            <a:avLst/>
          </a:prstGeom>
          <a:solidFill>
            <a:srgbClr val="F25E6B"/>
          </a:solidFill>
          <a:ln/>
        </p:spPr>
        <p:txBody>
          <a:bodyPr/>
          <a:lstStyle/>
          <a:p>
            <a:endParaRPr lang="en-US"/>
          </a:p>
        </p:txBody>
      </p:sp>
      <p:sp>
        <p:nvSpPr>
          <p:cNvPr id="12" name="Text 10"/>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Deliverable: AI landscape gap analysis and comprehensive regulatory mapping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Phase 1 — SOP Landscape Assessment</a:t>
            </a:r>
            <a:endParaRPr lang="en-US" sz="2800" dirty="0"/>
          </a:p>
        </p:txBody>
      </p:sp>
      <p:sp>
        <p:nvSpPr>
          <p:cNvPr id="4" name="Text 2"/>
          <p:cNvSpPr/>
          <p:nvPr/>
        </p:nvSpPr>
        <p:spPr>
          <a:xfrm>
            <a:off x="731520" y="960120"/>
            <a:ext cx="9144000" cy="365760"/>
          </a:xfrm>
          <a:prstGeom prst="rect">
            <a:avLst/>
          </a:prstGeom>
          <a:noFill/>
          <a:ln/>
        </p:spPr>
        <p:txBody>
          <a:bodyPr wrap="square" rtlCol="0" anchor="ctr"/>
          <a:lstStyle/>
          <a:p>
            <a:pPr marL="0" indent="0">
              <a:buNone/>
            </a:pPr>
            <a:r>
              <a:rPr lang="en-US" sz="1400" dirty="0">
                <a:solidFill>
                  <a:srgbClr val="64748B"/>
                </a:solidFill>
                <a:latin typeface="Arial" pitchFamily="34" charset="0"/>
                <a:ea typeface="Arial" pitchFamily="34" charset="-122"/>
                <a:cs typeface="Arial" pitchFamily="34" charset="-120"/>
              </a:rPr>
              <a:t>Data, not opinions, drive the prioritization.</a:t>
            </a:r>
            <a:endParaRPr lang="en-US" sz="1400" dirty="0"/>
          </a:p>
        </p:txBody>
      </p:sp>
      <p:sp>
        <p:nvSpPr>
          <p:cNvPr id="5" name="Shape 3"/>
          <p:cNvSpPr/>
          <p:nvPr/>
        </p:nvSpPr>
        <p:spPr>
          <a:xfrm>
            <a:off x="548640" y="15544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6" name="Text 4"/>
          <p:cNvSpPr/>
          <p:nvPr/>
        </p:nvSpPr>
        <p:spPr>
          <a:xfrm>
            <a:off x="685800" y="16459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Similarity Analysis</a:t>
            </a:r>
            <a:endParaRPr lang="en-US" sz="1300" dirty="0"/>
          </a:p>
        </p:txBody>
      </p:sp>
      <p:sp>
        <p:nvSpPr>
          <p:cNvPr id="7" name="Text 5"/>
          <p:cNvSpPr/>
          <p:nvPr/>
        </p:nvSpPr>
        <p:spPr>
          <a:xfrm>
            <a:off x="685800" y="19659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Cosine similarity + MinHash across entire corpus. Quantified overlap scores.</a:t>
            </a:r>
            <a:endParaRPr lang="en-US" sz="1050" dirty="0"/>
          </a:p>
        </p:txBody>
      </p:sp>
      <p:sp>
        <p:nvSpPr>
          <p:cNvPr id="8" name="Shape 6"/>
          <p:cNvSpPr/>
          <p:nvPr/>
        </p:nvSpPr>
        <p:spPr>
          <a:xfrm>
            <a:off x="6126480" y="15544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9" name="Text 7"/>
          <p:cNvSpPr/>
          <p:nvPr/>
        </p:nvSpPr>
        <p:spPr>
          <a:xfrm>
            <a:off x="6263640" y="16459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Readability Scoring</a:t>
            </a:r>
            <a:endParaRPr lang="en-US" sz="1300" dirty="0"/>
          </a:p>
        </p:txBody>
      </p:sp>
      <p:sp>
        <p:nvSpPr>
          <p:cNvPr id="10" name="Text 8"/>
          <p:cNvSpPr/>
          <p:nvPr/>
        </p:nvSpPr>
        <p:spPr>
          <a:xfrm>
            <a:off x="6263640" y="19659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Flesch-Kincaid, Gunning Fog, Coleman-Liau. Flag above Grade 12.</a:t>
            </a:r>
            <a:endParaRPr lang="en-US" sz="1050" dirty="0"/>
          </a:p>
        </p:txBody>
      </p:sp>
      <p:sp>
        <p:nvSpPr>
          <p:cNvPr id="11" name="Shape 9"/>
          <p:cNvSpPr/>
          <p:nvPr/>
        </p:nvSpPr>
        <p:spPr>
          <a:xfrm>
            <a:off x="548640" y="33832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12" name="Text 10"/>
          <p:cNvSpPr/>
          <p:nvPr/>
        </p:nvSpPr>
        <p:spPr>
          <a:xfrm>
            <a:off x="685800" y="34747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Dependency Mapping</a:t>
            </a:r>
            <a:endParaRPr lang="en-US" sz="1300" dirty="0"/>
          </a:p>
        </p:txBody>
      </p:sp>
      <p:sp>
        <p:nvSpPr>
          <p:cNvPr id="13" name="Text 11"/>
          <p:cNvSpPr/>
          <p:nvPr/>
        </p:nvSpPr>
        <p:spPr>
          <a:xfrm>
            <a:off x="685800" y="37947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NLP cross-reference graph. Orphans, circular deps, broken links.</a:t>
            </a:r>
            <a:endParaRPr lang="en-US" sz="1050" dirty="0"/>
          </a:p>
        </p:txBody>
      </p:sp>
      <p:sp>
        <p:nvSpPr>
          <p:cNvPr id="14" name="Shape 12"/>
          <p:cNvSpPr/>
          <p:nvPr/>
        </p:nvSpPr>
        <p:spPr>
          <a:xfrm>
            <a:off x="6126480" y="33832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15" name="Text 13"/>
          <p:cNvSpPr/>
          <p:nvPr/>
        </p:nvSpPr>
        <p:spPr>
          <a:xfrm>
            <a:off x="6263640" y="34747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Reference Audit</a:t>
            </a:r>
            <a:endParaRPr lang="en-US" sz="1300" dirty="0"/>
          </a:p>
        </p:txBody>
      </p:sp>
      <p:sp>
        <p:nvSpPr>
          <p:cNvPr id="16" name="Text 14"/>
          <p:cNvSpPr/>
          <p:nvPr/>
        </p:nvSpPr>
        <p:spPr>
          <a:xfrm>
            <a:off x="6263640" y="37947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Extract every regulatory reference. Flag outdated guideline references.</a:t>
            </a:r>
            <a:endParaRPr lang="en-US" sz="1050" dirty="0"/>
          </a:p>
        </p:txBody>
      </p:sp>
      <p:sp>
        <p:nvSpPr>
          <p:cNvPr id="17" name="Shape 15"/>
          <p:cNvSpPr/>
          <p:nvPr/>
        </p:nvSpPr>
        <p:spPr>
          <a:xfrm>
            <a:off x="0" y="5943600"/>
            <a:ext cx="12188952" cy="502920"/>
          </a:xfrm>
          <a:prstGeom prst="rect">
            <a:avLst/>
          </a:prstGeom>
          <a:solidFill>
            <a:srgbClr val="F25E6B"/>
          </a:solidFill>
          <a:ln/>
        </p:spPr>
        <p:txBody>
          <a:bodyPr/>
          <a:lstStyle/>
          <a:p>
            <a:endParaRPr lang="en-US"/>
          </a:p>
        </p:txBody>
      </p:sp>
      <p:sp>
        <p:nvSpPr>
          <p:cNvPr id="18" name="Text 16"/>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Deliverable: Quality heatmap, similarity matrix, dependency graph, reference report, prioritized roadmap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Phase 2 — AI-Assisted Rewriting &amp; Enrichment</a:t>
            </a:r>
            <a:endParaRPr lang="en-US" sz="2800" dirty="0"/>
          </a:p>
        </p:txBody>
      </p:sp>
      <p:sp>
        <p:nvSpPr>
          <p:cNvPr id="4" name="Text 2"/>
          <p:cNvSpPr/>
          <p:nvPr/>
        </p:nvSpPr>
        <p:spPr>
          <a:xfrm>
            <a:off x="731520" y="960120"/>
            <a:ext cx="9144000" cy="365760"/>
          </a:xfrm>
          <a:prstGeom prst="rect">
            <a:avLst/>
          </a:prstGeom>
          <a:noFill/>
          <a:ln/>
        </p:spPr>
        <p:txBody>
          <a:bodyPr wrap="square" rtlCol="0" anchor="ctr"/>
          <a:lstStyle/>
          <a:p>
            <a:pPr marL="0" indent="0">
              <a:buNone/>
            </a:pPr>
            <a:r>
              <a:rPr lang="en-US" sz="1400" dirty="0">
                <a:solidFill>
                  <a:srgbClr val="64748B"/>
                </a:solidFill>
                <a:latin typeface="Arial" pitchFamily="34" charset="0"/>
                <a:ea typeface="Arial" pitchFamily="34" charset="-122"/>
                <a:cs typeface="Arial" pitchFamily="34" charset="-120"/>
              </a:rPr>
              <a:t>AI suggests; humans decide. Mandatory human-in-the-loop review.</a:t>
            </a:r>
            <a:endParaRPr lang="en-US" sz="1400" dirty="0"/>
          </a:p>
        </p:txBody>
      </p:sp>
      <p:sp>
        <p:nvSpPr>
          <p:cNvPr id="5" name="Shape 3"/>
          <p:cNvSpPr/>
          <p:nvPr/>
        </p:nvSpPr>
        <p:spPr>
          <a:xfrm>
            <a:off x="548640" y="1554480"/>
            <a:ext cx="5120640" cy="3931920"/>
          </a:xfrm>
          <a:prstGeom prst="roundRect">
            <a:avLst>
              <a:gd name="adj" fmla="val 2326"/>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6" name="Text 4"/>
          <p:cNvSpPr/>
          <p:nvPr/>
        </p:nvSpPr>
        <p:spPr>
          <a:xfrm>
            <a:off x="685800" y="16459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What the AI Does</a:t>
            </a:r>
            <a:endParaRPr lang="en-US" sz="1300" dirty="0"/>
          </a:p>
        </p:txBody>
      </p:sp>
      <p:sp>
        <p:nvSpPr>
          <p:cNvPr id="7" name="Text 5"/>
          <p:cNvSpPr/>
          <p:nvPr/>
        </p:nvSpPr>
        <p:spPr>
          <a:xfrm>
            <a:off x="685800" y="1965960"/>
            <a:ext cx="4846320" cy="342900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  Simplification — Reduce reading grade, remove ambiguity</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Enrichment — Add missing CPPs, regulatory refs, safety notes</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Intelligent Merging — Combine overlapping SOPs into one</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New SOP Authoring — Draft from templates + regulatory context</a:t>
            </a:r>
            <a:endParaRPr lang="en-US" sz="1050" dirty="0"/>
          </a:p>
        </p:txBody>
      </p:sp>
      <p:sp>
        <p:nvSpPr>
          <p:cNvPr id="8" name="Shape 6"/>
          <p:cNvSpPr/>
          <p:nvPr/>
        </p:nvSpPr>
        <p:spPr>
          <a:xfrm>
            <a:off x="6126480" y="1554480"/>
            <a:ext cx="5120640" cy="3931920"/>
          </a:xfrm>
          <a:prstGeom prst="roundRect">
            <a:avLst>
              <a:gd name="adj" fmla="val 2326"/>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9" name="Text 7"/>
          <p:cNvSpPr/>
          <p:nvPr/>
        </p:nvSpPr>
        <p:spPr>
          <a:xfrm>
            <a:off x="6263640" y="16459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Deployment Options</a:t>
            </a:r>
            <a:endParaRPr lang="en-US" sz="1300" dirty="0"/>
          </a:p>
        </p:txBody>
      </p:sp>
      <p:sp>
        <p:nvSpPr>
          <p:cNvPr id="10" name="Text 8"/>
          <p:cNvSpPr/>
          <p:nvPr/>
        </p:nvSpPr>
        <p:spPr>
          <a:xfrm>
            <a:off x="6263640" y="1965960"/>
            <a:ext cx="4846320" cy="342900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  Cloud LLMs — GPT-4, Claude, Gemini via secure API</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Client Internal Models — Leverage existing infrastructure</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On-Premise — Llama, Mixtral for sensitive content</a:t>
            </a:r>
            <a:endParaRPr lang="en-US" sz="1050" dirty="0"/>
          </a:p>
          <a:p>
            <a:pPr marL="0" indent="0">
              <a:lnSpc>
                <a:spcPct val="115000"/>
              </a:lnSpc>
              <a:buNone/>
            </a:pPr>
            <a:r>
              <a:rPr lang="en-US" sz="1050" dirty="0">
                <a:solidFill>
                  <a:srgbClr val="334155"/>
                </a:solidFill>
                <a:latin typeface="Arial" pitchFamily="34" charset="0"/>
                <a:ea typeface="Arial" pitchFamily="34" charset="-122"/>
                <a:cs typeface="Arial" pitchFamily="34" charset="-120"/>
              </a:rPr>
              <a:t>•  RAG Architecture — Retrieval-augmented generation for accuracy</a:t>
            </a:r>
            <a:endParaRPr lang="en-US" sz="1050" dirty="0"/>
          </a:p>
        </p:txBody>
      </p:sp>
      <p:sp>
        <p:nvSpPr>
          <p:cNvPr id="11" name="Shape 9"/>
          <p:cNvSpPr/>
          <p:nvPr/>
        </p:nvSpPr>
        <p:spPr>
          <a:xfrm>
            <a:off x="0" y="5943600"/>
            <a:ext cx="12188952" cy="502920"/>
          </a:xfrm>
          <a:prstGeom prst="rect">
            <a:avLst/>
          </a:prstGeom>
          <a:solidFill>
            <a:srgbClr val="F25E6B"/>
          </a:solidFill>
          <a:ln/>
        </p:spPr>
        <p:txBody>
          <a:bodyPr/>
          <a:lstStyle/>
          <a:p>
            <a:endParaRPr lang="en-US"/>
          </a:p>
        </p:txBody>
      </p:sp>
      <p:sp>
        <p:nvSpPr>
          <p:cNvPr id="12" name="Text 10"/>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Deliverable: Improved SOPs with red-line comparisons, quality scorecards, SME validation docs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Phase 3 — Governance &amp; Lifecycle Automation</a:t>
            </a:r>
            <a:endParaRPr lang="en-US" sz="2800" dirty="0"/>
          </a:p>
        </p:txBody>
      </p:sp>
      <p:sp>
        <p:nvSpPr>
          <p:cNvPr id="4" name="Text 2"/>
          <p:cNvSpPr/>
          <p:nvPr/>
        </p:nvSpPr>
        <p:spPr>
          <a:xfrm>
            <a:off x="731520" y="960120"/>
            <a:ext cx="9144000" cy="365760"/>
          </a:xfrm>
          <a:prstGeom prst="rect">
            <a:avLst/>
          </a:prstGeom>
          <a:noFill/>
          <a:ln/>
        </p:spPr>
        <p:txBody>
          <a:bodyPr wrap="square" rtlCol="0" anchor="ctr"/>
          <a:lstStyle/>
          <a:p>
            <a:pPr marL="0" indent="0">
              <a:buNone/>
            </a:pPr>
            <a:r>
              <a:rPr lang="en-US" sz="1400" dirty="0">
                <a:solidFill>
                  <a:srgbClr val="64748B"/>
                </a:solidFill>
                <a:latin typeface="Arial" pitchFamily="34" charset="0"/>
                <a:ea typeface="Arial" pitchFamily="34" charset="-122"/>
                <a:cs typeface="Arial" pitchFamily="34" charset="-120"/>
              </a:rPr>
              <a:t>Sustain quality gains with automated monitoring and DMS integration.</a:t>
            </a:r>
            <a:endParaRPr lang="en-US" sz="1400" dirty="0"/>
          </a:p>
        </p:txBody>
      </p:sp>
      <p:sp>
        <p:nvSpPr>
          <p:cNvPr id="5" name="Shape 3"/>
          <p:cNvSpPr/>
          <p:nvPr/>
        </p:nvSpPr>
        <p:spPr>
          <a:xfrm>
            <a:off x="548640" y="15544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6" name="Text 4"/>
          <p:cNvSpPr/>
          <p:nvPr/>
        </p:nvSpPr>
        <p:spPr>
          <a:xfrm>
            <a:off x="685800" y="16459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Periodic Review Triggers</a:t>
            </a:r>
            <a:endParaRPr lang="en-US" sz="1300" dirty="0"/>
          </a:p>
        </p:txBody>
      </p:sp>
      <p:sp>
        <p:nvSpPr>
          <p:cNvPr id="7" name="Text 5"/>
          <p:cNvSpPr/>
          <p:nvPr/>
        </p:nvSpPr>
        <p:spPr>
          <a:xfrm>
            <a:off x="685800" y="19659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Automated scheduling based on risk tier, regulatory changes, and document age.</a:t>
            </a:r>
            <a:endParaRPr lang="en-US" sz="1050" dirty="0"/>
          </a:p>
        </p:txBody>
      </p:sp>
      <p:sp>
        <p:nvSpPr>
          <p:cNvPr id="8" name="Shape 6"/>
          <p:cNvSpPr/>
          <p:nvPr/>
        </p:nvSpPr>
        <p:spPr>
          <a:xfrm>
            <a:off x="6126480" y="15544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9" name="Text 7"/>
          <p:cNvSpPr/>
          <p:nvPr/>
        </p:nvSpPr>
        <p:spPr>
          <a:xfrm>
            <a:off x="6263640" y="16459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Cross-Reference Integrity</a:t>
            </a:r>
            <a:endParaRPr lang="en-US" sz="1300" dirty="0"/>
          </a:p>
        </p:txBody>
      </p:sp>
      <p:sp>
        <p:nvSpPr>
          <p:cNvPr id="10" name="Text 8"/>
          <p:cNvSpPr/>
          <p:nvPr/>
        </p:nvSpPr>
        <p:spPr>
          <a:xfrm>
            <a:off x="6263640" y="19659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Real-time validation of all SOP cross-references and dependency links.</a:t>
            </a:r>
            <a:endParaRPr lang="en-US" sz="1050" dirty="0"/>
          </a:p>
        </p:txBody>
      </p:sp>
      <p:sp>
        <p:nvSpPr>
          <p:cNvPr id="11" name="Shape 9"/>
          <p:cNvSpPr/>
          <p:nvPr/>
        </p:nvSpPr>
        <p:spPr>
          <a:xfrm>
            <a:off x="548640" y="33832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12" name="Text 10"/>
          <p:cNvSpPr/>
          <p:nvPr/>
        </p:nvSpPr>
        <p:spPr>
          <a:xfrm>
            <a:off x="685800" y="34747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Change-Impact Analysis</a:t>
            </a:r>
            <a:endParaRPr lang="en-US" sz="1300" dirty="0"/>
          </a:p>
        </p:txBody>
      </p:sp>
      <p:sp>
        <p:nvSpPr>
          <p:cNvPr id="13" name="Text 11"/>
          <p:cNvSpPr/>
          <p:nvPr/>
        </p:nvSpPr>
        <p:spPr>
          <a:xfrm>
            <a:off x="685800" y="37947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Predict downstream effects of any SOP revision across the entire corpus.</a:t>
            </a:r>
            <a:endParaRPr lang="en-US" sz="1050" dirty="0"/>
          </a:p>
        </p:txBody>
      </p:sp>
      <p:sp>
        <p:nvSpPr>
          <p:cNvPr id="14" name="Shape 12"/>
          <p:cNvSpPr/>
          <p:nvPr/>
        </p:nvSpPr>
        <p:spPr>
          <a:xfrm>
            <a:off x="6126480" y="33832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15" name="Text 13"/>
          <p:cNvSpPr/>
          <p:nvPr/>
        </p:nvSpPr>
        <p:spPr>
          <a:xfrm>
            <a:off x="6263640" y="34747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DMS Integration</a:t>
            </a:r>
            <a:endParaRPr lang="en-US" sz="1300" dirty="0"/>
          </a:p>
        </p:txBody>
      </p:sp>
      <p:sp>
        <p:nvSpPr>
          <p:cNvPr id="16" name="Text 14"/>
          <p:cNvSpPr/>
          <p:nvPr/>
        </p:nvSpPr>
        <p:spPr>
          <a:xfrm>
            <a:off x="6263640" y="37947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Seamless integration with existing document management systems.</a:t>
            </a:r>
            <a:endParaRPr lang="en-US" sz="1050" dirty="0"/>
          </a:p>
        </p:txBody>
      </p:sp>
      <p:sp>
        <p:nvSpPr>
          <p:cNvPr id="17" name="Shape 15"/>
          <p:cNvSpPr/>
          <p:nvPr/>
        </p:nvSpPr>
        <p:spPr>
          <a:xfrm>
            <a:off x="0" y="5943600"/>
            <a:ext cx="12188952" cy="502920"/>
          </a:xfrm>
          <a:prstGeom prst="rect">
            <a:avLst/>
          </a:prstGeom>
          <a:solidFill>
            <a:srgbClr val="F25E6B"/>
          </a:solidFill>
          <a:ln/>
        </p:spPr>
        <p:txBody>
          <a:bodyPr/>
          <a:lstStyle/>
          <a:p>
            <a:endParaRPr lang="en-US"/>
          </a:p>
        </p:txBody>
      </p:sp>
      <p:sp>
        <p:nvSpPr>
          <p:cNvPr id="18" name="Text 16"/>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Deliverable: Automated review schedule, change-impact engine, DMS-integrated lifecycle dashboard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Phase 4 — Training Content Auto-Generation</a:t>
            </a:r>
            <a:endParaRPr lang="en-US" sz="2800" dirty="0"/>
          </a:p>
        </p:txBody>
      </p:sp>
      <p:sp>
        <p:nvSpPr>
          <p:cNvPr id="4" name="Text 2"/>
          <p:cNvSpPr/>
          <p:nvPr/>
        </p:nvSpPr>
        <p:spPr>
          <a:xfrm>
            <a:off x="731520" y="960120"/>
            <a:ext cx="9144000" cy="365760"/>
          </a:xfrm>
          <a:prstGeom prst="rect">
            <a:avLst/>
          </a:prstGeom>
          <a:noFill/>
          <a:ln/>
        </p:spPr>
        <p:txBody>
          <a:bodyPr wrap="square" rtlCol="0" anchor="ctr"/>
          <a:lstStyle/>
          <a:p>
            <a:pPr marL="0" indent="0">
              <a:buNone/>
            </a:pPr>
            <a:r>
              <a:rPr lang="en-US" sz="1400" dirty="0">
                <a:solidFill>
                  <a:srgbClr val="64748B"/>
                </a:solidFill>
                <a:latin typeface="Arial" pitchFamily="34" charset="0"/>
                <a:ea typeface="Arial" pitchFamily="34" charset="-122"/>
                <a:cs typeface="Arial" pitchFamily="34" charset="-120"/>
              </a:rPr>
              <a:t>Turn improved SOPs into materials operators can actually learn from.</a:t>
            </a:r>
            <a:endParaRPr lang="en-US" sz="1400" dirty="0"/>
          </a:p>
        </p:txBody>
      </p:sp>
      <p:sp>
        <p:nvSpPr>
          <p:cNvPr id="5" name="Shape 3"/>
          <p:cNvSpPr/>
          <p:nvPr/>
        </p:nvSpPr>
        <p:spPr>
          <a:xfrm>
            <a:off x="548640" y="15544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6" name="Text 4"/>
          <p:cNvSpPr/>
          <p:nvPr/>
        </p:nvSpPr>
        <p:spPr>
          <a:xfrm>
            <a:off x="685800" y="16459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Role-Based Summaries</a:t>
            </a:r>
            <a:endParaRPr lang="en-US" sz="1300" dirty="0"/>
          </a:p>
        </p:txBody>
      </p:sp>
      <p:sp>
        <p:nvSpPr>
          <p:cNvPr id="7" name="Text 5"/>
          <p:cNvSpPr/>
          <p:nvPr/>
        </p:nvSpPr>
        <p:spPr>
          <a:xfrm>
            <a:off x="685800" y="19659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Tailored content for operators, supervisors, QA, and maintenance.</a:t>
            </a:r>
            <a:endParaRPr lang="en-US" sz="1050" dirty="0"/>
          </a:p>
        </p:txBody>
      </p:sp>
      <p:sp>
        <p:nvSpPr>
          <p:cNvPr id="8" name="Shape 6"/>
          <p:cNvSpPr/>
          <p:nvPr/>
        </p:nvSpPr>
        <p:spPr>
          <a:xfrm>
            <a:off x="6126480" y="15544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9" name="Text 7"/>
          <p:cNvSpPr/>
          <p:nvPr/>
        </p:nvSpPr>
        <p:spPr>
          <a:xfrm>
            <a:off x="6263640" y="16459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Visual Job Aids</a:t>
            </a:r>
            <a:endParaRPr lang="en-US" sz="1300" dirty="0"/>
          </a:p>
        </p:txBody>
      </p:sp>
      <p:sp>
        <p:nvSpPr>
          <p:cNvPr id="10" name="Text 8"/>
          <p:cNvSpPr/>
          <p:nvPr/>
        </p:nvSpPr>
        <p:spPr>
          <a:xfrm>
            <a:off x="6263640" y="19659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Auto-generated flowcharts, decision trees, and quick-reference cards.</a:t>
            </a:r>
            <a:endParaRPr lang="en-US" sz="1050" dirty="0"/>
          </a:p>
        </p:txBody>
      </p:sp>
      <p:sp>
        <p:nvSpPr>
          <p:cNvPr id="11" name="Shape 9"/>
          <p:cNvSpPr/>
          <p:nvPr/>
        </p:nvSpPr>
        <p:spPr>
          <a:xfrm>
            <a:off x="548640" y="33832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12" name="Text 10"/>
          <p:cNvSpPr/>
          <p:nvPr/>
        </p:nvSpPr>
        <p:spPr>
          <a:xfrm>
            <a:off x="685800" y="34747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Assessment Questions</a:t>
            </a:r>
            <a:endParaRPr lang="en-US" sz="1300" dirty="0"/>
          </a:p>
        </p:txBody>
      </p:sp>
      <p:sp>
        <p:nvSpPr>
          <p:cNvPr id="13" name="Text 11"/>
          <p:cNvSpPr/>
          <p:nvPr/>
        </p:nvSpPr>
        <p:spPr>
          <a:xfrm>
            <a:off x="685800" y="37947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AI-generated quizzes mapped to SOP learning objectives.</a:t>
            </a:r>
            <a:endParaRPr lang="en-US" sz="1050" dirty="0"/>
          </a:p>
        </p:txBody>
      </p:sp>
      <p:sp>
        <p:nvSpPr>
          <p:cNvPr id="14" name="Shape 12"/>
          <p:cNvSpPr/>
          <p:nvPr/>
        </p:nvSpPr>
        <p:spPr>
          <a:xfrm>
            <a:off x="6126480" y="3383280"/>
            <a:ext cx="5120640" cy="1554480"/>
          </a:xfrm>
          <a:prstGeom prst="roundRect">
            <a:avLst>
              <a:gd name="adj" fmla="val 5882"/>
            </a:avLst>
          </a:prstGeom>
          <a:solidFill>
            <a:srgbClr val="FFFFFF"/>
          </a:solidFill>
          <a:ln/>
          <a:effectLst>
            <a:outerShdw blurRad="50800" dist="25400" dir="16200000" algn="bl" rotWithShape="0">
              <a:srgbClr val="CCCCCC">
                <a:alpha val="30000"/>
              </a:srgbClr>
            </a:outerShdw>
          </a:effectLst>
        </p:spPr>
        <p:txBody>
          <a:bodyPr/>
          <a:lstStyle/>
          <a:p>
            <a:endParaRPr lang="en-US"/>
          </a:p>
        </p:txBody>
      </p:sp>
      <p:sp>
        <p:nvSpPr>
          <p:cNvPr id="15" name="Text 13"/>
          <p:cNvSpPr/>
          <p:nvPr/>
        </p:nvSpPr>
        <p:spPr>
          <a:xfrm>
            <a:off x="6263640" y="3474720"/>
            <a:ext cx="4846320" cy="320040"/>
          </a:xfrm>
          <a:prstGeom prst="rect">
            <a:avLst/>
          </a:prstGeom>
          <a:noFill/>
          <a:ln/>
        </p:spPr>
        <p:txBody>
          <a:bodyPr wrap="square" rtlCol="0" anchor="ctr"/>
          <a:lstStyle/>
          <a:p>
            <a:pPr marL="0" indent="0">
              <a:buNone/>
            </a:pPr>
            <a:r>
              <a:rPr lang="en-US" sz="1300" b="1" dirty="0">
                <a:solidFill>
                  <a:srgbClr val="1A1A2E"/>
                </a:solidFill>
                <a:latin typeface="Arial Black" pitchFamily="34" charset="0"/>
                <a:ea typeface="Arial Black" pitchFamily="34" charset="-122"/>
                <a:cs typeface="Arial Black" pitchFamily="34" charset="-120"/>
              </a:rPr>
              <a:t>Training Impact Tracking</a:t>
            </a:r>
            <a:endParaRPr lang="en-US" sz="1300" dirty="0"/>
          </a:p>
        </p:txBody>
      </p:sp>
      <p:sp>
        <p:nvSpPr>
          <p:cNvPr id="16" name="Text 14"/>
          <p:cNvSpPr/>
          <p:nvPr/>
        </p:nvSpPr>
        <p:spPr>
          <a:xfrm>
            <a:off x="6263640" y="3794760"/>
            <a:ext cx="4846320" cy="1051560"/>
          </a:xfrm>
          <a:prstGeom prst="rect">
            <a:avLst/>
          </a:prstGeom>
          <a:noFill/>
          <a:ln/>
        </p:spPr>
        <p:txBody>
          <a:bodyPr wrap="square" rtlCol="0" anchor="t"/>
          <a:lstStyle/>
          <a:p>
            <a:pPr marL="0" indent="0">
              <a:lnSpc>
                <a:spcPct val="115000"/>
              </a:lnSpc>
              <a:buNone/>
            </a:pPr>
            <a:r>
              <a:rPr lang="en-US" sz="1050" dirty="0">
                <a:solidFill>
                  <a:srgbClr val="334155"/>
                </a:solidFill>
                <a:latin typeface="Arial" pitchFamily="34" charset="0"/>
                <a:ea typeface="Arial" pitchFamily="34" charset="-122"/>
                <a:cs typeface="Arial" pitchFamily="34" charset="-120"/>
              </a:rPr>
              <a:t>Measure comprehension and on-floor performance post-training.</a:t>
            </a:r>
            <a:endParaRPr lang="en-US" sz="1050" dirty="0"/>
          </a:p>
        </p:txBody>
      </p:sp>
      <p:sp>
        <p:nvSpPr>
          <p:cNvPr id="17" name="Shape 15"/>
          <p:cNvSpPr/>
          <p:nvPr/>
        </p:nvSpPr>
        <p:spPr>
          <a:xfrm>
            <a:off x="0" y="5943600"/>
            <a:ext cx="12188952" cy="502920"/>
          </a:xfrm>
          <a:prstGeom prst="rect">
            <a:avLst/>
          </a:prstGeom>
          <a:solidFill>
            <a:srgbClr val="F25E6B"/>
          </a:solidFill>
          <a:ln/>
        </p:spPr>
        <p:txBody>
          <a:bodyPr/>
          <a:lstStyle/>
          <a:p>
            <a:endParaRPr lang="en-US"/>
          </a:p>
        </p:txBody>
      </p:sp>
      <p:sp>
        <p:nvSpPr>
          <p:cNvPr id="18" name="Text 16"/>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Deliverable: Role-based training packages, visual aids, assessment banks, training benchmarks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a:effectLst/>
      </p:bgPr>
    </p:bg>
    <p:spTree>
      <p:nvGrpSpPr>
        <p:cNvPr id="1" name=""/>
        <p:cNvGrpSpPr/>
        <p:nvPr/>
      </p:nvGrpSpPr>
      <p:grpSpPr>
        <a:xfrm>
          <a:off x="0" y="0"/>
          <a:ext cx="0" cy="0"/>
          <a:chOff x="0" y="0"/>
          <a:chExt cx="0" cy="0"/>
        </a:xfrm>
      </p:grpSpPr>
      <p:sp>
        <p:nvSpPr>
          <p:cNvPr id="2" name="Text 0"/>
          <p:cNvSpPr/>
          <p:nvPr/>
        </p:nvSpPr>
        <p:spPr>
          <a:xfrm>
            <a:off x="0" y="1828800"/>
            <a:ext cx="12188952" cy="91440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3" name="Text 1"/>
          <p:cNvSpPr/>
          <p:nvPr/>
        </p:nvSpPr>
        <p:spPr>
          <a:xfrm>
            <a:off x="0" y="2743200"/>
            <a:ext cx="12188952" cy="731520"/>
          </a:xfrm>
          <a:prstGeom prst="rect">
            <a:avLst/>
          </a:prstGeom>
          <a:noFill/>
          <a:ln/>
        </p:spPr>
        <p:txBody>
          <a:bodyPr wrap="square" rtlCol="0" anchor="ctr"/>
          <a:lstStyle/>
          <a:p>
            <a:pPr marL="0" indent="0" algn="ctr">
              <a:buNone/>
            </a:pPr>
            <a:r>
              <a:rPr lang="en-US" sz="3600" b="1" dirty="0">
                <a:solidFill>
                  <a:srgbClr val="FFFFFF"/>
                </a:solidFill>
                <a:latin typeface="Arial Black" pitchFamily="34" charset="0"/>
                <a:ea typeface="Arial Black" pitchFamily="34" charset="-122"/>
                <a:cs typeface="Arial Black" pitchFamily="34" charset="-120"/>
              </a:rPr>
              <a:t>Proven Capabilities</a:t>
            </a:r>
            <a:endParaRPr lang="en-US" sz="3600" dirty="0"/>
          </a:p>
        </p:txBody>
      </p:sp>
      <p:sp>
        <p:nvSpPr>
          <p:cNvPr id="4" name="Text 2"/>
          <p:cNvSpPr/>
          <p:nvPr/>
        </p:nvSpPr>
        <p:spPr>
          <a:xfrm>
            <a:off x="1371600" y="3566160"/>
            <a:ext cx="9445752" cy="548640"/>
          </a:xfrm>
          <a:prstGeom prst="rect">
            <a:avLst/>
          </a:prstGeom>
          <a:noFill/>
          <a:ln/>
        </p:spPr>
        <p:txBody>
          <a:bodyPr wrap="square" rtlCol="0" anchor="ctr"/>
          <a:lstStyle/>
          <a:p>
            <a:pPr marL="0" indent="0" algn="ctr">
              <a:buNone/>
            </a:pPr>
            <a:r>
              <a:rPr lang="en-US" sz="1600" dirty="0">
                <a:solidFill>
                  <a:srgbClr val="64748B"/>
                </a:solidFill>
                <a:latin typeface="Arial" pitchFamily="34" charset="0"/>
                <a:ea typeface="Arial" pitchFamily="34" charset="-122"/>
                <a:cs typeface="Arial" pitchFamily="34" charset="-120"/>
              </a:rPr>
              <a:t>Deployed tools with real pharmaceutical outputs — not mockups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SOP Similarity Analysis</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Cosine similarity heatmap across pharmaceutical SOP corpus</a:t>
            </a:r>
            <a:endParaRPr lang="en-US" sz="1100" dirty="0"/>
          </a:p>
        </p:txBody>
      </p:sp>
      <p:pic>
        <p:nvPicPr>
          <p:cNvPr id="5" name="Image 0" descr="pptx-heatmap.png"/>
          <p:cNvPicPr>
            <a:picLocks noChangeAspect="1"/>
          </p:cNvPicPr>
          <p:nvPr/>
        </p:nvPicPr>
        <p:blipFill>
          <a:blip r:embed="rId3"/>
          <a:stretch>
            <a:fillRect/>
          </a:stretch>
        </p:blipFill>
        <p:spPr>
          <a:xfrm>
            <a:off x="1624255" y="1143000"/>
            <a:ext cx="5346850" cy="4572000"/>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FINDINGS</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342900" indent="-342900">
              <a:lnSpc>
                <a:spcPct val="130000"/>
              </a:lnSpc>
              <a:buSzPct val="100000"/>
              <a:buChar char="•"/>
            </a:pPr>
            <a:r>
              <a:rPr lang="en-US" sz="1100" dirty="0">
                <a:solidFill>
                  <a:srgbClr val="FFFFFF"/>
                </a:solidFill>
                <a:latin typeface="Arial" pitchFamily="34" charset="0"/>
                <a:ea typeface="Arial" pitchFamily="34" charset="-122"/>
                <a:cs typeface="Arial" pitchFamily="34" charset="-120"/>
              </a:rPr>
              <a:t>High-overlap clusters (0.90–0.99)</a:t>
            </a:r>
            <a:endParaRPr lang="en-US" sz="1100" dirty="0"/>
          </a:p>
          <a:p>
            <a:pPr marL="342900" indent="-342900">
              <a:lnSpc>
                <a:spcPct val="130000"/>
              </a:lnSpc>
              <a:buSzPct val="100000"/>
              <a:buChar char="•"/>
            </a:pPr>
            <a:r>
              <a:rPr lang="en-US" sz="1100" dirty="0">
                <a:solidFill>
                  <a:srgbClr val="FFFFFF"/>
                </a:solidFill>
                <a:latin typeface="Arial" pitchFamily="34" charset="0"/>
                <a:ea typeface="Arial" pitchFamily="34" charset="-122"/>
                <a:cs typeface="Arial" pitchFamily="34" charset="-120"/>
              </a:rPr>
              <a:t>Equipment-family groupings</a:t>
            </a:r>
            <a:endParaRPr lang="en-US" sz="1100" dirty="0"/>
          </a:p>
          <a:p>
            <a:pPr marL="342900" indent="-342900">
              <a:lnSpc>
                <a:spcPct val="130000"/>
              </a:lnSpc>
              <a:buSzPct val="100000"/>
              <a:buChar char="•"/>
            </a:pPr>
            <a:r>
              <a:rPr lang="en-US" sz="1100" dirty="0">
                <a:solidFill>
                  <a:srgbClr val="FFFFFF"/>
                </a:solidFill>
                <a:latin typeface="Arial" pitchFamily="34" charset="0"/>
                <a:ea typeface="Arial" pitchFamily="34" charset="-122"/>
                <a:cs typeface="Arial" pitchFamily="34" charset="-120"/>
              </a:rPr>
              <a:t>Cross-format divergence</a:t>
            </a:r>
            <a:endParaRPr lang="en-US" sz="1100" dirty="0"/>
          </a:p>
          <a:p>
            <a:pPr marL="342900" indent="-342900">
              <a:lnSpc>
                <a:spcPct val="130000"/>
              </a:lnSpc>
              <a:buSzPct val="100000"/>
              <a:buChar char="•"/>
            </a:pPr>
            <a:r>
              <a:rPr lang="en-US" sz="1100" dirty="0">
                <a:solidFill>
                  <a:srgbClr val="FFFFFF"/>
                </a:solidFill>
                <a:latin typeface="Arial" pitchFamily="34" charset="0"/>
                <a:ea typeface="Arial" pitchFamily="34" charset="-122"/>
                <a:cs typeface="Arial" pitchFamily="34" charset="-120"/>
              </a:rPr>
              <a:t>Room-specific duplication</a:t>
            </a:r>
            <a:endParaRPr lang="en-US" sz="11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Ingests thousands of documents, produces full similarity matrix in hours — manual review takes weeks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Topic Clustering (BERTopic)</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Unsupervised topic modeling across SOP corpus</a:t>
            </a:r>
            <a:endParaRPr lang="en-US" sz="1100" dirty="0"/>
          </a:p>
        </p:txBody>
      </p:sp>
      <p:pic>
        <p:nvPicPr>
          <p:cNvPr id="5" name="Image 0" descr="pptx-bertopic.png"/>
          <p:cNvPicPr>
            <a:picLocks noChangeAspect="1"/>
          </p:cNvPicPr>
          <p:nvPr/>
        </p:nvPicPr>
        <p:blipFill>
          <a:blip r:embed="rId3"/>
          <a:stretch>
            <a:fillRect/>
          </a:stretch>
        </p:blipFill>
        <p:spPr>
          <a:xfrm>
            <a:off x="415886" y="1143000"/>
            <a:ext cx="7763589" cy="4572000"/>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FINDINGS</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342900" indent="-342900">
              <a:lnSpc>
                <a:spcPct val="130000"/>
              </a:lnSpc>
              <a:buSzPct val="100000"/>
              <a:buChar char="•"/>
            </a:pPr>
            <a:r>
              <a:rPr lang="en-US" sz="1100" dirty="0">
                <a:solidFill>
                  <a:srgbClr val="FFFFFF"/>
                </a:solidFill>
                <a:latin typeface="Arial" pitchFamily="34" charset="0"/>
                <a:ea typeface="Arial" pitchFamily="34" charset="-122"/>
                <a:cs typeface="Arial" pitchFamily="34" charset="-120"/>
              </a:rPr>
              <a:t>Equipment Cleaning cluster (15 SOPs)</a:t>
            </a:r>
            <a:endParaRPr lang="en-US" sz="1100" dirty="0"/>
          </a:p>
          <a:p>
            <a:pPr marL="342900" indent="-342900">
              <a:lnSpc>
                <a:spcPct val="130000"/>
              </a:lnSpc>
              <a:buSzPct val="100000"/>
              <a:buChar char="•"/>
            </a:pPr>
            <a:r>
              <a:rPr lang="en-US" sz="1100" dirty="0">
                <a:solidFill>
                  <a:srgbClr val="FFFFFF"/>
                </a:solidFill>
                <a:latin typeface="Arial" pitchFamily="34" charset="0"/>
                <a:ea typeface="Arial" pitchFamily="34" charset="-122"/>
                <a:cs typeface="Arial" pitchFamily="34" charset="-120"/>
              </a:rPr>
              <a:t>Syringe vs. Vial overlap</a:t>
            </a:r>
            <a:endParaRPr lang="en-US" sz="1100" dirty="0"/>
          </a:p>
          <a:p>
            <a:pPr marL="342900" indent="-342900">
              <a:lnSpc>
                <a:spcPct val="130000"/>
              </a:lnSpc>
              <a:buSzPct val="100000"/>
              <a:buChar char="•"/>
            </a:pPr>
            <a:r>
              <a:rPr lang="en-US" sz="1100" dirty="0">
                <a:solidFill>
                  <a:srgbClr val="FFFFFF"/>
                </a:solidFill>
                <a:latin typeface="Arial" pitchFamily="34" charset="0"/>
                <a:ea typeface="Arial" pitchFamily="34" charset="-122"/>
                <a:cs typeface="Arial" pitchFamily="34" charset="-120"/>
              </a:rPr>
              <a:t>Gowning ↔ Cleaning cross-topic</a:t>
            </a:r>
            <a:endParaRPr lang="en-US" sz="11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Runs in minutes on 500+ SOPs — a human reviewer would need weeks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Readability &amp; Complexity Scoring</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Flesch-Kincaid, Gunning Fog, Coleman-Liau analysis</a:t>
            </a:r>
            <a:endParaRPr lang="en-US" sz="1100" dirty="0"/>
          </a:p>
        </p:txBody>
      </p:sp>
      <p:pic>
        <p:nvPicPr>
          <p:cNvPr id="5" name="Image 0" descr="pptx-readability.png"/>
          <p:cNvPicPr>
            <a:picLocks noChangeAspect="1"/>
          </p:cNvPicPr>
          <p:nvPr/>
        </p:nvPicPr>
        <p:blipFill>
          <a:blip r:embed="rId3"/>
          <a:stretch>
            <a:fillRect/>
          </a:stretch>
        </p:blipFill>
        <p:spPr>
          <a:xfrm>
            <a:off x="365760" y="1865007"/>
            <a:ext cx="7863840" cy="3127985"/>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STAT</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0" indent="0">
              <a:lnSpc>
                <a:spcPct val="130000"/>
              </a:lnSpc>
              <a:buNone/>
            </a:pPr>
            <a:r>
              <a:rPr lang="en-US" sz="1200" dirty="0">
                <a:solidFill>
                  <a:srgbClr val="FFFFFF"/>
                </a:solidFill>
                <a:latin typeface="Arial" pitchFamily="34" charset="0"/>
                <a:ea typeface="Arial" pitchFamily="34" charset="-122"/>
                <a:cs typeface="Arial" pitchFamily="34" charset="-120"/>
              </a:rPr>
              <a:t>62% of SOPs exceed Grade 12 readability — too complex for floor execution</a:t>
            </a:r>
            <a:endParaRPr lang="en-US" sz="12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Complex language → misinterpretation → deviations → cost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Cross-Reference Dependency Mapping</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NLP-extracted cross-reference graph</a:t>
            </a:r>
            <a:endParaRPr lang="en-US" sz="1100" dirty="0"/>
          </a:p>
        </p:txBody>
      </p:sp>
      <p:pic>
        <p:nvPicPr>
          <p:cNvPr id="5" name="Image 0" descr="pptx-dependency.png"/>
          <p:cNvPicPr>
            <a:picLocks noChangeAspect="1"/>
          </p:cNvPicPr>
          <p:nvPr/>
        </p:nvPicPr>
        <p:blipFill>
          <a:blip r:embed="rId3"/>
          <a:stretch>
            <a:fillRect/>
          </a:stretch>
        </p:blipFill>
        <p:spPr>
          <a:xfrm>
            <a:off x="623089" y="1143000"/>
            <a:ext cx="7349181" cy="4572000"/>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FINDINGS</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342900" indent="-342900">
              <a:lnSpc>
                <a:spcPct val="130000"/>
              </a:lnSpc>
              <a:buSzPct val="100000"/>
              <a:buChar char="•"/>
            </a:pPr>
            <a:r>
              <a:rPr lang="en-US" sz="1100" dirty="0">
                <a:solidFill>
                  <a:srgbClr val="FFFFFF"/>
                </a:solidFill>
                <a:latin typeface="Arial" pitchFamily="34" charset="0"/>
                <a:ea typeface="Arial" pitchFamily="34" charset="-122"/>
                <a:cs typeface="Arial" pitchFamily="34" charset="-120"/>
              </a:rPr>
              <a:t>Circular dependency detected</a:t>
            </a:r>
            <a:endParaRPr lang="en-US" sz="1100" dirty="0"/>
          </a:p>
          <a:p>
            <a:pPr marL="342900" indent="-342900">
              <a:lnSpc>
                <a:spcPct val="130000"/>
              </a:lnSpc>
              <a:buSzPct val="100000"/>
              <a:buChar char="•"/>
            </a:pPr>
            <a:r>
              <a:rPr lang="en-US" sz="1100" dirty="0">
                <a:solidFill>
                  <a:srgbClr val="FFFFFF"/>
                </a:solidFill>
                <a:latin typeface="Arial" pitchFamily="34" charset="0"/>
                <a:ea typeface="Arial" pitchFamily="34" charset="-122"/>
                <a:cs typeface="Arial" pitchFamily="34" charset="-120"/>
              </a:rPr>
              <a:t>2 orphaned SOPs identified</a:t>
            </a:r>
            <a:endParaRPr lang="en-US" sz="1100" dirty="0"/>
          </a:p>
          <a:p>
            <a:pPr marL="342900" indent="-342900">
              <a:lnSpc>
                <a:spcPct val="130000"/>
              </a:lnSpc>
              <a:buSzPct val="100000"/>
              <a:buChar char="•"/>
            </a:pPr>
            <a:r>
              <a:rPr lang="en-US" sz="1100" dirty="0">
                <a:solidFill>
                  <a:srgbClr val="FFFFFF"/>
                </a:solidFill>
                <a:latin typeface="Arial" pitchFamily="34" charset="0"/>
                <a:ea typeface="Arial" pitchFamily="34" charset="-122"/>
                <a:cs typeface="Arial" pitchFamily="34" charset="-120"/>
              </a:rPr>
              <a:t>Hub documents mapped</a:t>
            </a:r>
            <a:endParaRPr lang="en-US" sz="11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Fixes cross-reference errors before they become audit findings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Regulatory Reference Audit</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Automated extraction and validation of every regulatory citation</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7040880" cy="2660904"/>
        </p:xfrm>
        <a:graphic>
          <a:graphicData uri="http://schemas.openxmlformats.org/drawingml/2006/table">
            <a:tbl>
              <a:tblPr/>
              <a:tblGrid>
                <a:gridCol w="12801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20040">
                <a:tc>
                  <a:txBody>
                    <a:bodyPr/>
                    <a:lstStyle/>
                    <a:p>
                      <a:pPr marL="0" indent="0">
                        <a:buNone/>
                      </a:pPr>
                      <a:r>
                        <a:rPr lang="en-US" sz="1000" b="1" dirty="0">
                          <a:solidFill>
                            <a:srgbClr val="FFFFFF"/>
                          </a:solidFill>
                          <a:latin typeface="Arial" pitchFamily="34" charset="0"/>
                          <a:ea typeface="Arial" pitchFamily="34" charset="-122"/>
                          <a:cs typeface="Arial" pitchFamily="34" charset="-120"/>
                        </a:rPr>
                        <a:t>SOP</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F25E6B"/>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Reference Found</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F25E6B"/>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Status</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F25E6B"/>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Current Version</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F25E6B"/>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Action Required</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F25E6B"/>
                    </a:solidFill>
                  </a:tcPr>
                </a:tc>
                <a:extLst>
                  <a:ext uri="{0D108BD9-81ED-4DB2-BD59-A6C34878D82A}">
                    <a16:rowId xmlns:a16="http://schemas.microsoft.com/office/drawing/2014/main" val="10000"/>
                  </a:ext>
                </a:extLst>
              </a:tr>
              <a:tr h="292608">
                <a:tc>
                  <a:txBody>
                    <a:bodyPr/>
                    <a:lstStyle/>
                    <a:p>
                      <a:pPr marL="0" indent="0">
                        <a:buNone/>
                      </a:pPr>
                      <a:r>
                        <a:rPr lang="en-US" sz="1000" dirty="0">
                          <a:solidFill>
                            <a:srgbClr val="FFFFFF"/>
                          </a:solidFill>
                          <a:latin typeface="Arial" pitchFamily="34" charset="0"/>
                          <a:ea typeface="Arial" pitchFamily="34" charset="-122"/>
                          <a:cs typeface="Arial" pitchFamily="34" charset="-120"/>
                        </a:rPr>
                        <a:t>SOP-CLN-001</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FDA 21 CFR 211.67</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 Current</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Current</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None</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extLst>
                  <a:ext uri="{0D108BD9-81ED-4DB2-BD59-A6C34878D82A}">
                    <a16:rowId xmlns:a16="http://schemas.microsoft.com/office/drawing/2014/main" val="10001"/>
                  </a:ext>
                </a:extLst>
              </a:tr>
              <a:tr h="292608">
                <a:tc>
                  <a:txBody>
                    <a:bodyPr/>
                    <a:lstStyle/>
                    <a:p>
                      <a:pPr marL="0" indent="0">
                        <a:buNone/>
                      </a:pPr>
                      <a:r>
                        <a:rPr lang="en-US" sz="1000" dirty="0">
                          <a:solidFill>
                            <a:srgbClr val="FFFFFF"/>
                          </a:solidFill>
                          <a:latin typeface="Arial" pitchFamily="34" charset="0"/>
                          <a:ea typeface="Arial" pitchFamily="34" charset="-122"/>
                          <a:cs typeface="Arial" pitchFamily="34" charset="-120"/>
                        </a:rPr>
                        <a:t>SOP-CLN-003</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EU GMP Annex 15</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 Outdated</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Rev 2015 → 2022</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Update reference</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extLst>
                  <a:ext uri="{0D108BD9-81ED-4DB2-BD59-A6C34878D82A}">
                    <a16:rowId xmlns:a16="http://schemas.microsoft.com/office/drawing/2014/main" val="10002"/>
                  </a:ext>
                </a:extLst>
              </a:tr>
              <a:tr h="292608">
                <a:tc>
                  <a:txBody>
                    <a:bodyPr/>
                    <a:lstStyle/>
                    <a:p>
                      <a:pPr marL="0" indent="0">
                        <a:buNone/>
                      </a:pPr>
                      <a:r>
                        <a:rPr lang="en-US" sz="1000" dirty="0">
                          <a:solidFill>
                            <a:srgbClr val="FFFFFF"/>
                          </a:solidFill>
                          <a:latin typeface="Arial" pitchFamily="34" charset="0"/>
                          <a:ea typeface="Arial" pitchFamily="34" charset="-122"/>
                          <a:cs typeface="Arial" pitchFamily="34" charset="-120"/>
                        </a:rPr>
                        <a:t>SOP-EQP-012</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USP &lt;1058&gt;</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 Current</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Current</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None</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extLst>
                  <a:ext uri="{0D108BD9-81ED-4DB2-BD59-A6C34878D82A}">
                    <a16:rowId xmlns:a16="http://schemas.microsoft.com/office/drawing/2014/main" val="10003"/>
                  </a:ext>
                </a:extLst>
              </a:tr>
              <a:tr h="292608">
                <a:tc>
                  <a:txBody>
                    <a:bodyPr/>
                    <a:lstStyle/>
                    <a:p>
                      <a:pPr marL="0" indent="0">
                        <a:buNone/>
                      </a:pPr>
                      <a:r>
                        <a:rPr lang="en-US" sz="1000" dirty="0">
                          <a:solidFill>
                            <a:srgbClr val="FFFFFF"/>
                          </a:solidFill>
                          <a:latin typeface="Arial" pitchFamily="34" charset="0"/>
                          <a:ea typeface="Arial" pitchFamily="34" charset="-122"/>
                          <a:cs typeface="Arial" pitchFamily="34" charset="-120"/>
                        </a:rPr>
                        <a:t>SOP-QC-007</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ICH Q2(R2)</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 Outdated</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Q2(R1) → Q2(R2)</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Update reference</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extLst>
                  <a:ext uri="{0D108BD9-81ED-4DB2-BD59-A6C34878D82A}">
                    <a16:rowId xmlns:a16="http://schemas.microsoft.com/office/drawing/2014/main" val="10004"/>
                  </a:ext>
                </a:extLst>
              </a:tr>
              <a:tr h="292608">
                <a:tc>
                  <a:txBody>
                    <a:bodyPr/>
                    <a:lstStyle/>
                    <a:p>
                      <a:pPr marL="0" indent="0">
                        <a:buNone/>
                      </a:pPr>
                      <a:r>
                        <a:rPr lang="en-US" sz="1000" dirty="0">
                          <a:solidFill>
                            <a:srgbClr val="FFFFFF"/>
                          </a:solidFill>
                          <a:latin typeface="Arial" pitchFamily="34" charset="0"/>
                          <a:ea typeface="Arial" pitchFamily="34" charset="-122"/>
                          <a:cs typeface="Arial" pitchFamily="34" charset="-120"/>
                        </a:rPr>
                        <a:t>SOP-MFG-015</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PDA TR-60</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 Current</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Current</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None</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extLst>
                  <a:ext uri="{0D108BD9-81ED-4DB2-BD59-A6C34878D82A}">
                    <a16:rowId xmlns:a16="http://schemas.microsoft.com/office/drawing/2014/main" val="10005"/>
                  </a:ext>
                </a:extLst>
              </a:tr>
              <a:tr h="292608">
                <a:tc>
                  <a:txBody>
                    <a:bodyPr/>
                    <a:lstStyle/>
                    <a:p>
                      <a:pPr marL="0" indent="0">
                        <a:buNone/>
                      </a:pPr>
                      <a:r>
                        <a:rPr lang="en-US" sz="1000" dirty="0">
                          <a:solidFill>
                            <a:srgbClr val="FFFFFF"/>
                          </a:solidFill>
                          <a:latin typeface="Arial" pitchFamily="34" charset="0"/>
                          <a:ea typeface="Arial" pitchFamily="34" charset="-122"/>
                          <a:cs typeface="Arial" pitchFamily="34" charset="-120"/>
                        </a:rPr>
                        <a:t>SOP-CLN-008</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ISPE Guide: CIP</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 Current</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2nd Ed (2020)</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None</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extLst>
                  <a:ext uri="{0D108BD9-81ED-4DB2-BD59-A6C34878D82A}">
                    <a16:rowId xmlns:a16="http://schemas.microsoft.com/office/drawing/2014/main" val="10006"/>
                  </a:ext>
                </a:extLst>
              </a:tr>
              <a:tr h="292608">
                <a:tc>
                  <a:txBody>
                    <a:bodyPr/>
                    <a:lstStyle/>
                    <a:p>
                      <a:pPr marL="0" indent="0">
                        <a:buNone/>
                      </a:pPr>
                      <a:r>
                        <a:rPr lang="en-US" sz="1000" dirty="0">
                          <a:solidFill>
                            <a:srgbClr val="FFFFFF"/>
                          </a:solidFill>
                          <a:latin typeface="Arial" pitchFamily="34" charset="0"/>
                          <a:ea typeface="Arial" pitchFamily="34" charset="-122"/>
                          <a:cs typeface="Arial" pitchFamily="34" charset="-120"/>
                        </a:rPr>
                        <a:t>SOP-ENV-004</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EU GMP Annex 1</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 Review</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2022 revision</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Review scope</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extLst>
                  <a:ext uri="{0D108BD9-81ED-4DB2-BD59-A6C34878D82A}">
                    <a16:rowId xmlns:a16="http://schemas.microsoft.com/office/drawing/2014/main" val="10007"/>
                  </a:ext>
                </a:extLst>
              </a:tr>
              <a:tr h="292608">
                <a:tc>
                  <a:txBody>
                    <a:bodyPr/>
                    <a:lstStyle/>
                    <a:p>
                      <a:pPr marL="0" indent="0">
                        <a:buNone/>
                      </a:pPr>
                      <a:r>
                        <a:rPr lang="en-US" sz="1000" dirty="0">
                          <a:solidFill>
                            <a:srgbClr val="FFFFFF"/>
                          </a:solidFill>
                          <a:latin typeface="Arial" pitchFamily="34" charset="0"/>
                          <a:ea typeface="Arial" pitchFamily="34" charset="-122"/>
                          <a:cs typeface="Arial" pitchFamily="34" charset="-120"/>
                        </a:rPr>
                        <a:t>SOP-PKG-011</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21 CFR Part 211.122</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 Current</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Current</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tc>
                  <a:txBody>
                    <a:bodyPr/>
                    <a:lstStyle/>
                    <a:p>
                      <a:pPr marL="0" indent="0">
                        <a:buNone/>
                      </a:pPr>
                      <a:r>
                        <a:rPr lang="en-US" sz="1000" dirty="0">
                          <a:solidFill>
                            <a:srgbClr val="FFFFFF"/>
                          </a:solidFill>
                          <a:latin typeface="Arial" pitchFamily="34" charset="0"/>
                          <a:ea typeface="Arial" pitchFamily="34" charset="-122"/>
                          <a:cs typeface="Arial" pitchFamily="34" charset="-120"/>
                        </a:rPr>
                        <a:t>None</a:t>
                      </a:r>
                      <a:endParaRPr lang="en-US" sz="1000" dirty="0">
                        <a:latin typeface="Arial" charset="0"/>
                        <a:ea typeface="Arial" charset="0"/>
                        <a:cs typeface="Arial"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1A2E"/>
                    </a:solidFill>
                  </a:tcPr>
                </a:tc>
                <a:extLst>
                  <a:ext uri="{0D108BD9-81ED-4DB2-BD59-A6C34878D82A}">
                    <a16:rowId xmlns:a16="http://schemas.microsoft.com/office/drawing/2014/main" val="10008"/>
                  </a:ext>
                </a:extLst>
              </a:tr>
            </a:tbl>
          </a:graphicData>
        </a:graphic>
      </p:graphicFrame>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SUMMARY</a:t>
            </a:r>
            <a:endParaRPr lang="en-US" sz="1000" dirty="0"/>
          </a:p>
        </p:txBody>
      </p:sp>
      <p:sp>
        <p:nvSpPr>
          <p:cNvPr id="8" name="Text 5"/>
          <p:cNvSpPr/>
          <p:nvPr/>
        </p:nvSpPr>
        <p:spPr>
          <a:xfrm>
            <a:off x="8686800" y="1554480"/>
            <a:ext cx="3136392" cy="3657600"/>
          </a:xfrm>
          <a:prstGeom prst="rect">
            <a:avLst/>
          </a:prstGeom>
          <a:noFill/>
          <a:ln/>
        </p:spPr>
        <p:txBody>
          <a:bodyPr wrap="square" rtlCol="0" anchor="t"/>
          <a:lstStyle/>
          <a:p>
            <a:pPr marL="342900" indent="-342900">
              <a:lnSpc>
                <a:spcPct val="150000"/>
              </a:lnSpc>
              <a:buSzPct val="100000"/>
              <a:buChar char="•"/>
            </a:pPr>
            <a:r>
              <a:rPr lang="en-US" sz="1200" dirty="0">
                <a:solidFill>
                  <a:srgbClr val="FFFFFF"/>
                </a:solidFill>
                <a:latin typeface="Arial" pitchFamily="34" charset="0"/>
                <a:ea typeface="Arial" pitchFamily="34" charset="-122"/>
                <a:cs typeface="Arial" pitchFamily="34" charset="-120"/>
              </a:rPr>
              <a:t>156 SOPs scanned</a:t>
            </a:r>
            <a:endParaRPr lang="en-US" sz="1200" dirty="0"/>
          </a:p>
          <a:p>
            <a:pPr marL="342900" indent="-342900">
              <a:lnSpc>
                <a:spcPct val="150000"/>
              </a:lnSpc>
              <a:buSzPct val="100000"/>
              <a:buChar char="•"/>
            </a:pPr>
            <a:r>
              <a:rPr lang="en-US" sz="1200" dirty="0">
                <a:solidFill>
                  <a:srgbClr val="FFFFFF"/>
                </a:solidFill>
                <a:latin typeface="Arial" pitchFamily="34" charset="0"/>
                <a:ea typeface="Arial" pitchFamily="34" charset="-122"/>
                <a:cs typeface="Arial" pitchFamily="34" charset="-120"/>
              </a:rPr>
              <a:t>487 references extracted</a:t>
            </a:r>
            <a:endParaRPr lang="en-US" sz="1200" dirty="0"/>
          </a:p>
          <a:p>
            <a:pPr marL="342900" indent="-342900">
              <a:lnSpc>
                <a:spcPct val="150000"/>
              </a:lnSpc>
              <a:buSzPct val="100000"/>
              <a:buChar char="•"/>
            </a:pPr>
            <a:r>
              <a:rPr lang="en-US" sz="1200" dirty="0">
                <a:solidFill>
                  <a:srgbClr val="FFFFFF"/>
                </a:solidFill>
                <a:latin typeface="Arial" pitchFamily="34" charset="0"/>
                <a:ea typeface="Arial" pitchFamily="34" charset="-122"/>
                <a:cs typeface="Arial" pitchFamily="34" charset="-120"/>
              </a:rPr>
              <a:t>23 outdated (15%)</a:t>
            </a:r>
            <a:endParaRPr lang="en-US" sz="1200" dirty="0"/>
          </a:p>
          <a:p>
            <a:pPr marL="342900" indent="-342900">
              <a:lnSpc>
                <a:spcPct val="150000"/>
              </a:lnSpc>
              <a:buSzPct val="100000"/>
              <a:buChar char="•"/>
            </a:pPr>
            <a:r>
              <a:rPr lang="en-US" sz="1200" dirty="0">
                <a:solidFill>
                  <a:srgbClr val="FFFFFF"/>
                </a:solidFill>
                <a:latin typeface="Arial" pitchFamily="34" charset="0"/>
                <a:ea typeface="Arial" pitchFamily="34" charset="-122"/>
                <a:cs typeface="Arial" pitchFamily="34" charset="-120"/>
              </a:rPr>
              <a:t>11 need review (7%)</a:t>
            </a:r>
            <a:endParaRPr lang="en-US" sz="1200" dirty="0"/>
          </a:p>
          <a:p>
            <a:pPr marL="342900" indent="-342900">
              <a:lnSpc>
                <a:spcPct val="150000"/>
              </a:lnSpc>
              <a:buSzPct val="100000"/>
              <a:buChar char="•"/>
            </a:pPr>
            <a:r>
              <a:rPr lang="en-US" sz="1200" dirty="0">
                <a:solidFill>
                  <a:srgbClr val="FFFFFF"/>
                </a:solidFill>
                <a:latin typeface="Arial" pitchFamily="34" charset="0"/>
                <a:ea typeface="Arial" pitchFamily="34" charset="-122"/>
                <a:cs typeface="Arial" pitchFamily="34" charset="-120"/>
              </a:rPr>
              <a:t>453 current (78%)</a:t>
            </a:r>
            <a:endParaRPr lang="en-US" sz="12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Proactive reference audit eliminates a common FDA 483 trigger</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LLM-Assisted SOP Rewriting</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Before/after comparison with full quality metrics</a:t>
            </a:r>
            <a:endParaRPr lang="en-US" sz="1100" dirty="0"/>
          </a:p>
        </p:txBody>
      </p:sp>
      <p:pic>
        <p:nvPicPr>
          <p:cNvPr id="5" name="Image 0" descr="pptx-rewriting.png"/>
          <p:cNvPicPr>
            <a:picLocks noChangeAspect="1"/>
          </p:cNvPicPr>
          <p:nvPr/>
        </p:nvPicPr>
        <p:blipFill>
          <a:blip r:embed="rId3"/>
          <a:stretch>
            <a:fillRect/>
          </a:stretch>
        </p:blipFill>
        <p:spPr>
          <a:xfrm>
            <a:off x="365760" y="1285474"/>
            <a:ext cx="7863840" cy="4287052"/>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STAT</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0" indent="0">
              <a:lnSpc>
                <a:spcPct val="130000"/>
              </a:lnSpc>
              <a:buNone/>
            </a:pPr>
            <a:r>
              <a:rPr lang="en-US" sz="1200" dirty="0">
                <a:solidFill>
                  <a:srgbClr val="FFFFFF"/>
                </a:solidFill>
                <a:latin typeface="Arial" pitchFamily="34" charset="0"/>
                <a:ea typeface="Arial" pitchFamily="34" charset="-122"/>
                <a:cs typeface="Arial" pitchFamily="34" charset="-120"/>
              </a:rPr>
              <a:t>Grade 18.3 → 6.8 | 23 → 8 pages | 14 → 0 ambiguous terms | Passive voice 67% → 8%</a:t>
            </a:r>
            <a:endParaRPr lang="en-US" sz="12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Every metric improved. Every change traceable. Every output human-approved.</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Quality Scorecard</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Multi-dimensional SOP quality assessment</a:t>
            </a:r>
            <a:endParaRPr lang="en-US" sz="1100" dirty="0"/>
          </a:p>
        </p:txBody>
      </p:sp>
      <p:pic>
        <p:nvPicPr>
          <p:cNvPr id="5" name="Image 0" descr="pptx-scorecard.png"/>
          <p:cNvPicPr>
            <a:picLocks noChangeAspect="1"/>
          </p:cNvPicPr>
          <p:nvPr/>
        </p:nvPicPr>
        <p:blipFill>
          <a:blip r:embed="rId3"/>
          <a:stretch>
            <a:fillRect/>
          </a:stretch>
        </p:blipFill>
        <p:spPr>
          <a:xfrm>
            <a:off x="365760" y="1169946"/>
            <a:ext cx="7863840" cy="4518109"/>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STAT</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0" indent="0">
              <a:lnSpc>
                <a:spcPct val="130000"/>
              </a:lnSpc>
              <a:buNone/>
            </a:pPr>
            <a:r>
              <a:rPr lang="en-US" sz="1200" dirty="0">
                <a:solidFill>
                  <a:srgbClr val="FFFFFF"/>
                </a:solidFill>
                <a:latin typeface="Arial" pitchFamily="34" charset="0"/>
                <a:ea typeface="Arial" pitchFamily="34" charset="-122"/>
                <a:cs typeface="Arial" pitchFamily="34" charset="-120"/>
              </a:rPr>
              <a:t>Average score: 3.5/10 → 8.2/10 | Every dimension improved</a:t>
            </a:r>
            <a:endParaRPr lang="en-US" sz="12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Quality scorecard is the primary success metric — not page count reduction</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MinHash Near-Duplicate Detection</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Structural similarity detection at scale</a:t>
            </a:r>
            <a:endParaRPr lang="en-US" sz="1100" dirty="0"/>
          </a:p>
        </p:txBody>
      </p:sp>
      <p:pic>
        <p:nvPicPr>
          <p:cNvPr id="5" name="Image 0" descr="pptx-minhash.png"/>
          <p:cNvPicPr>
            <a:picLocks noChangeAspect="1"/>
          </p:cNvPicPr>
          <p:nvPr/>
        </p:nvPicPr>
        <p:blipFill>
          <a:blip r:embed="rId3"/>
          <a:stretch>
            <a:fillRect/>
          </a:stretch>
        </p:blipFill>
        <p:spPr>
          <a:xfrm>
            <a:off x="596302" y="1143000"/>
            <a:ext cx="7402756" cy="4572000"/>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STAT</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0" indent="0">
              <a:lnSpc>
                <a:spcPct val="130000"/>
              </a:lnSpc>
              <a:buNone/>
            </a:pPr>
            <a:r>
              <a:rPr lang="en-US" sz="1200" dirty="0">
                <a:solidFill>
                  <a:srgbClr val="FFFFFF"/>
                </a:solidFill>
                <a:latin typeface="Arial" pitchFamily="34" charset="0"/>
                <a:ea typeface="Arial" pitchFamily="34" charset="-122"/>
                <a:cs typeface="Arial" pitchFamily="34" charset="-120"/>
              </a:rPr>
              <a:t>2,000+ documents in minutes | Catches structural duplication cosine similarity misses</a:t>
            </a:r>
            <a:endParaRPr lang="en-US" sz="12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Complements cosine similarity — together they catch semantic and structural duplication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Coverage Gap Analysis</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SOP coverage vs. regulatory requirements</a:t>
            </a:r>
            <a:endParaRPr lang="en-US" sz="1100" dirty="0"/>
          </a:p>
        </p:txBody>
      </p:sp>
      <p:pic>
        <p:nvPicPr>
          <p:cNvPr id="5" name="Image 0" descr="pptx-gap.png"/>
          <p:cNvPicPr>
            <a:picLocks noChangeAspect="1"/>
          </p:cNvPicPr>
          <p:nvPr/>
        </p:nvPicPr>
        <p:blipFill>
          <a:blip r:embed="rId3"/>
          <a:stretch>
            <a:fillRect/>
          </a:stretch>
        </p:blipFill>
        <p:spPr>
          <a:xfrm>
            <a:off x="365760" y="1291257"/>
            <a:ext cx="7863840" cy="4275486"/>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STAT</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0" indent="0">
              <a:lnSpc>
                <a:spcPct val="130000"/>
              </a:lnSpc>
              <a:buNone/>
            </a:pPr>
            <a:r>
              <a:rPr lang="en-US" sz="1200" dirty="0">
                <a:solidFill>
                  <a:srgbClr val="FFFFFF"/>
                </a:solidFill>
                <a:latin typeface="Arial" pitchFamily="34" charset="0"/>
                <a:ea typeface="Arial" pitchFamily="34" charset="-122"/>
                <a:cs typeface="Arial" pitchFamily="34" charset="-120"/>
              </a:rPr>
              <a:t>Cleaning: 3x over-documented | Dispensing: under-documented | Quantifies priority</a:t>
            </a:r>
            <a:endParaRPr lang="en-US" sz="12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Data-driven prioritization — focus effort where it delivers the most value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AI-Generated Visual Aids</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Automated flowchart generation from SOP text</a:t>
            </a:r>
            <a:endParaRPr lang="en-US" sz="1100" dirty="0"/>
          </a:p>
        </p:txBody>
      </p:sp>
      <p:pic>
        <p:nvPicPr>
          <p:cNvPr id="5" name="Image 0" descr="pptx-flowchart.png"/>
          <p:cNvPicPr>
            <a:picLocks noChangeAspect="1"/>
          </p:cNvPicPr>
          <p:nvPr/>
        </p:nvPicPr>
        <p:blipFill>
          <a:blip r:embed="rId3"/>
          <a:stretch>
            <a:fillRect/>
          </a:stretch>
        </p:blipFill>
        <p:spPr>
          <a:xfrm>
            <a:off x="608322" y="1143000"/>
            <a:ext cx="7378716" cy="4572000"/>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STAT</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0" indent="0">
              <a:lnSpc>
                <a:spcPct val="130000"/>
              </a:lnSpc>
              <a:buNone/>
            </a:pPr>
            <a:r>
              <a:rPr lang="en-US" sz="1200" dirty="0">
                <a:solidFill>
                  <a:srgbClr val="FFFFFF"/>
                </a:solidFill>
                <a:latin typeface="Arial" pitchFamily="34" charset="0"/>
                <a:ea typeface="Arial" pitchFamily="34" charset="-122"/>
                <a:cs typeface="Arial" pitchFamily="34" charset="-120"/>
              </a:rPr>
              <a:t>Replaces 3+ pages of dense text | Reduces training time ~40%</a:t>
            </a:r>
            <a:endParaRPr lang="en-US" sz="12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Visual aids generated automatically from SOP text — no manual flowcharting</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Style &amp; Structure Standardization</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Cross-SOP consistency enforcement</a:t>
            </a:r>
            <a:endParaRPr lang="en-US" sz="1100" dirty="0"/>
          </a:p>
        </p:txBody>
      </p:sp>
      <p:pic>
        <p:nvPicPr>
          <p:cNvPr id="5" name="Image 0" descr="pptx-style.png"/>
          <p:cNvPicPr>
            <a:picLocks noChangeAspect="1"/>
          </p:cNvPicPr>
          <p:nvPr/>
        </p:nvPicPr>
        <p:blipFill>
          <a:blip r:embed="rId3"/>
          <a:stretch>
            <a:fillRect/>
          </a:stretch>
        </p:blipFill>
        <p:spPr>
          <a:xfrm>
            <a:off x="365760" y="1414227"/>
            <a:ext cx="7863840" cy="4029546"/>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STAT</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0" indent="0">
              <a:lnSpc>
                <a:spcPct val="130000"/>
              </a:lnSpc>
              <a:buNone/>
            </a:pPr>
            <a:r>
              <a:rPr lang="en-US" sz="1200" dirty="0">
                <a:solidFill>
                  <a:srgbClr val="FFFFFF"/>
                </a:solidFill>
                <a:latin typeface="Arial" pitchFamily="34" charset="0"/>
                <a:ea typeface="Arial" pitchFamily="34" charset="-122"/>
                <a:cs typeface="Arial" pitchFamily="34" charset="-120"/>
              </a:rPr>
              <a:t>5 SOPs, 5 styles → 1 standard | verb-first | no ambiguity | consistency every day</a:t>
            </a:r>
            <a:endParaRPr lang="en-US" sz="12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Consistency reduces cognitive load — operators learn patterns, not individual documents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F25E6B"/>
          </a:solidFill>
          <a:ln/>
        </p:spPr>
        <p:txBody>
          <a:bodyPr/>
          <a:lstStyle/>
          <a:p>
            <a:endParaRPr lang="en-US"/>
          </a:p>
        </p:txBody>
      </p:sp>
      <p:sp>
        <p:nvSpPr>
          <p:cNvPr id="3" name="Text 1"/>
          <p:cNvSpPr/>
          <p:nvPr/>
        </p:nvSpPr>
        <p:spPr>
          <a:xfrm>
            <a:off x="457200" y="45720"/>
            <a:ext cx="8229600" cy="457200"/>
          </a:xfrm>
          <a:prstGeom prst="rect">
            <a:avLst/>
          </a:prstGeom>
          <a:noFill/>
          <a:ln/>
        </p:spPr>
        <p:txBody>
          <a:bodyPr wrap="square"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Multi-Language Harmonization</a:t>
            </a:r>
            <a:endParaRPr lang="en-US" sz="2000" dirty="0"/>
          </a:p>
        </p:txBody>
      </p:sp>
      <p:sp>
        <p:nvSpPr>
          <p:cNvPr id="4" name="Text 2"/>
          <p:cNvSpPr/>
          <p:nvPr/>
        </p:nvSpPr>
        <p:spPr>
          <a:xfrm>
            <a:off x="457200" y="457200"/>
            <a:ext cx="8229600" cy="32004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Cross-language SOP variant analysis</a:t>
            </a:r>
            <a:endParaRPr lang="en-US" sz="1100" dirty="0"/>
          </a:p>
        </p:txBody>
      </p:sp>
      <p:pic>
        <p:nvPicPr>
          <p:cNvPr id="5" name="Image 0" descr="pptx-multilang.png"/>
          <p:cNvPicPr>
            <a:picLocks noChangeAspect="1"/>
          </p:cNvPicPr>
          <p:nvPr/>
        </p:nvPicPr>
        <p:blipFill>
          <a:blip r:embed="rId3"/>
          <a:stretch>
            <a:fillRect/>
          </a:stretch>
        </p:blipFill>
        <p:spPr>
          <a:xfrm>
            <a:off x="832585" y="1143000"/>
            <a:ext cx="6930189" cy="4572000"/>
          </a:xfrm>
          <a:prstGeom prst="rect">
            <a:avLst/>
          </a:prstGeom>
        </p:spPr>
      </p:pic>
      <p:sp>
        <p:nvSpPr>
          <p:cNvPr id="6" name="Shape 3"/>
          <p:cNvSpPr/>
          <p:nvPr/>
        </p:nvSpPr>
        <p:spPr>
          <a:xfrm>
            <a:off x="8503920" y="1005840"/>
            <a:ext cx="3502152" cy="4846320"/>
          </a:xfrm>
          <a:prstGeom prst="rect">
            <a:avLst/>
          </a:prstGeom>
          <a:solidFill>
            <a:srgbClr val="1A1A2E"/>
          </a:solidFill>
          <a:ln/>
        </p:spPr>
        <p:txBody>
          <a:bodyPr/>
          <a:lstStyle/>
          <a:p>
            <a:endParaRPr lang="en-US"/>
          </a:p>
        </p:txBody>
      </p:sp>
      <p:sp>
        <p:nvSpPr>
          <p:cNvPr id="7" name="Text 4"/>
          <p:cNvSpPr/>
          <p:nvPr/>
        </p:nvSpPr>
        <p:spPr>
          <a:xfrm>
            <a:off x="8686800" y="1188720"/>
            <a:ext cx="3136392" cy="274320"/>
          </a:xfrm>
          <a:prstGeom prst="rect">
            <a:avLst/>
          </a:prstGeom>
          <a:noFill/>
          <a:ln/>
        </p:spPr>
        <p:txBody>
          <a:bodyPr wrap="square" rtlCol="0" anchor="ctr"/>
          <a:lstStyle/>
          <a:p>
            <a:pPr marL="0" indent="0">
              <a:buNone/>
            </a:pPr>
            <a:r>
              <a:rPr lang="en-US" sz="1000" b="1" dirty="0">
                <a:solidFill>
                  <a:srgbClr val="F25E6B"/>
                </a:solidFill>
                <a:latin typeface="Arial" pitchFamily="34" charset="0"/>
                <a:ea typeface="Arial" pitchFamily="34" charset="-122"/>
                <a:cs typeface="Arial" pitchFamily="34" charset="-120"/>
              </a:rPr>
              <a:t>KEY STAT</a:t>
            </a:r>
            <a:endParaRPr lang="en-US" sz="1000" dirty="0"/>
          </a:p>
        </p:txBody>
      </p:sp>
      <p:sp>
        <p:nvSpPr>
          <p:cNvPr id="8" name="Text 5"/>
          <p:cNvSpPr/>
          <p:nvPr/>
        </p:nvSpPr>
        <p:spPr>
          <a:xfrm>
            <a:off x="8686800" y="1554480"/>
            <a:ext cx="3136392" cy="3840480"/>
          </a:xfrm>
          <a:prstGeom prst="rect">
            <a:avLst/>
          </a:prstGeom>
          <a:noFill/>
          <a:ln/>
        </p:spPr>
        <p:txBody>
          <a:bodyPr wrap="square" rtlCol="0" anchor="t"/>
          <a:lstStyle/>
          <a:p>
            <a:pPr marL="0" indent="0">
              <a:lnSpc>
                <a:spcPct val="130000"/>
              </a:lnSpc>
              <a:buNone/>
            </a:pPr>
            <a:r>
              <a:rPr lang="en-US" sz="1200" dirty="0">
                <a:solidFill>
                  <a:srgbClr val="FFFFFF"/>
                </a:solidFill>
                <a:latin typeface="Arial" pitchFamily="34" charset="0"/>
                <a:ea typeface="Arial" pitchFamily="34" charset="-122"/>
                <a:cs typeface="Arial" pitchFamily="34" charset="-120"/>
              </a:rPr>
              <a:t>Flags content discrepancies across language variants | Catches format/decimal differences</a:t>
            </a:r>
            <a:endParaRPr lang="en-US" sz="1200" dirty="0"/>
          </a:p>
        </p:txBody>
      </p:sp>
      <p:sp>
        <p:nvSpPr>
          <p:cNvPr id="9" name="Shape 6"/>
          <p:cNvSpPr/>
          <p:nvPr/>
        </p:nvSpPr>
        <p:spPr>
          <a:xfrm>
            <a:off x="0" y="5943600"/>
            <a:ext cx="12188952" cy="502920"/>
          </a:xfrm>
          <a:prstGeom prst="rect">
            <a:avLst/>
          </a:prstGeom>
          <a:solidFill>
            <a:srgbClr val="1A1A2E"/>
          </a:solidFill>
          <a:ln/>
        </p:spPr>
        <p:txBody>
          <a:bodyPr/>
          <a:lstStyle/>
          <a:p>
            <a:endParaRPr lang="en-US"/>
          </a:p>
        </p:txBody>
      </p:sp>
      <p:sp>
        <p:nvSpPr>
          <p:cNvPr id="10" name="Text 7"/>
          <p:cNvSpPr/>
          <p:nvPr/>
        </p:nvSpPr>
        <p:spPr>
          <a:xfrm>
            <a:off x="365760" y="5943600"/>
            <a:ext cx="11430000" cy="502920"/>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Critical for multi-site, multi-language pharma operations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Risk Mitigation &amp; GMP Guardrails</a:t>
            </a:r>
            <a:endParaRPr lang="en-US" sz="2800" dirty="0"/>
          </a:p>
        </p:txBody>
      </p:sp>
      <p:sp>
        <p:nvSpPr>
          <p:cNvPr id="4" name="Text 2"/>
          <p:cNvSpPr/>
          <p:nvPr/>
        </p:nvSpPr>
        <p:spPr>
          <a:xfrm>
            <a:off x="731520" y="960120"/>
            <a:ext cx="9144000" cy="320040"/>
          </a:xfrm>
          <a:prstGeom prst="rect">
            <a:avLst/>
          </a:prstGeom>
          <a:noFill/>
          <a:ln/>
        </p:spPr>
        <p:txBody>
          <a:bodyPr wrap="square" rtlCol="0" anchor="ctr"/>
          <a:lstStyle/>
          <a:p>
            <a:pPr marL="0" indent="0">
              <a:buNone/>
            </a:pPr>
            <a:r>
              <a:rPr lang="en-US" sz="1300" i="1" dirty="0">
                <a:solidFill>
                  <a:srgbClr val="F25E6B"/>
                </a:solidFill>
                <a:latin typeface="Arial" pitchFamily="34" charset="0"/>
                <a:ea typeface="Arial" pitchFamily="34" charset="-122"/>
                <a:cs typeface="Arial" pitchFamily="34" charset="-120"/>
              </a:rPr>
              <a:t>AI enhances human capability — it does not replace human accountability.</a:t>
            </a:r>
            <a:endParaRPr lang="en-US" sz="1300" dirty="0"/>
          </a:p>
        </p:txBody>
      </p:sp>
      <p:sp>
        <p:nvSpPr>
          <p:cNvPr id="5" name="Shape 3"/>
          <p:cNvSpPr/>
          <p:nvPr/>
        </p:nvSpPr>
        <p:spPr>
          <a:xfrm>
            <a:off x="502920" y="1463040"/>
            <a:ext cx="2560320" cy="1280160"/>
          </a:xfrm>
          <a:prstGeom prst="roundRect">
            <a:avLst>
              <a:gd name="adj" fmla="val 4286"/>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6" name="Text 4"/>
          <p:cNvSpPr/>
          <p:nvPr/>
        </p:nvSpPr>
        <p:spPr>
          <a:xfrm>
            <a:off x="576072" y="1536192"/>
            <a:ext cx="320040" cy="320040"/>
          </a:xfrm>
          <a:prstGeom prst="ellipse">
            <a:avLst/>
          </a:prstGeom>
          <a:solidFill>
            <a:srgbClr val="F25E6B"/>
          </a:solid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7" name="Text 5"/>
          <p:cNvSpPr/>
          <p:nvPr/>
        </p:nvSpPr>
        <p:spPr>
          <a:xfrm>
            <a:off x="960120" y="1554480"/>
            <a:ext cx="2011680" cy="320040"/>
          </a:xfrm>
          <a:prstGeom prst="rect">
            <a:avLst/>
          </a:prstGeom>
          <a:noFill/>
          <a:ln/>
        </p:spPr>
        <p:txBody>
          <a:bodyPr wrap="square" rtlCol="0" anchor="ctr"/>
          <a:lstStyle/>
          <a:p>
            <a:pPr marL="0" indent="0">
              <a:buNone/>
            </a:pPr>
            <a:r>
              <a:rPr lang="en-US" sz="1100" b="1" dirty="0">
                <a:solidFill>
                  <a:srgbClr val="0D0D0D"/>
                </a:solidFill>
                <a:latin typeface="Arial Black" pitchFamily="34" charset="0"/>
                <a:ea typeface="Arial Black" pitchFamily="34" charset="-122"/>
                <a:cs typeface="Arial Black" pitchFamily="34" charset="-120"/>
              </a:rPr>
              <a:t>“Do No Harm” Principle</a:t>
            </a:r>
            <a:endParaRPr lang="en-US" sz="1100" dirty="0"/>
          </a:p>
        </p:txBody>
      </p:sp>
      <p:sp>
        <p:nvSpPr>
          <p:cNvPr id="8" name="Text 6"/>
          <p:cNvSpPr/>
          <p:nvPr/>
        </p:nvSpPr>
        <p:spPr>
          <a:xfrm>
            <a:off x="640080" y="1965960"/>
            <a:ext cx="2286000" cy="685800"/>
          </a:xfrm>
          <a:prstGeom prst="rect">
            <a:avLst/>
          </a:prstGeom>
          <a:noFill/>
          <a:ln/>
        </p:spPr>
        <p:txBody>
          <a:bodyPr wrap="square" rtlCol="0" anchor="t"/>
          <a:lstStyle/>
          <a:p>
            <a:pPr marL="0" indent="0">
              <a:buNone/>
            </a:pPr>
            <a:r>
              <a:rPr lang="en-US" sz="1000" dirty="0">
                <a:solidFill>
                  <a:srgbClr val="334155"/>
                </a:solidFill>
                <a:latin typeface="Arial" pitchFamily="34" charset="0"/>
                <a:ea typeface="Arial" pitchFamily="34" charset="-122"/>
                <a:cs typeface="Arial" pitchFamily="34" charset="-120"/>
              </a:rPr>
              <a:t>Every change risk-assessed. Tier 1: SME + QA + regulatory review</a:t>
            </a:r>
            <a:endParaRPr lang="en-US" sz="1000" dirty="0"/>
          </a:p>
        </p:txBody>
      </p:sp>
      <p:sp>
        <p:nvSpPr>
          <p:cNvPr id="9" name="Shape 7"/>
          <p:cNvSpPr/>
          <p:nvPr/>
        </p:nvSpPr>
        <p:spPr>
          <a:xfrm>
            <a:off x="3291840" y="1463040"/>
            <a:ext cx="2560320" cy="1280160"/>
          </a:xfrm>
          <a:prstGeom prst="roundRect">
            <a:avLst>
              <a:gd name="adj" fmla="val 4286"/>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10" name="Text 8"/>
          <p:cNvSpPr/>
          <p:nvPr/>
        </p:nvSpPr>
        <p:spPr>
          <a:xfrm>
            <a:off x="3364992" y="1536192"/>
            <a:ext cx="320040" cy="320040"/>
          </a:xfrm>
          <a:prstGeom prst="ellipse">
            <a:avLst/>
          </a:prstGeom>
          <a:solidFill>
            <a:srgbClr val="F25E6B"/>
          </a:solid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1" name="Text 9"/>
          <p:cNvSpPr/>
          <p:nvPr/>
        </p:nvSpPr>
        <p:spPr>
          <a:xfrm>
            <a:off x="3749040" y="1554480"/>
            <a:ext cx="2011680" cy="320040"/>
          </a:xfrm>
          <a:prstGeom prst="rect">
            <a:avLst/>
          </a:prstGeom>
          <a:noFill/>
          <a:ln/>
        </p:spPr>
        <p:txBody>
          <a:bodyPr wrap="square" rtlCol="0" anchor="ctr"/>
          <a:lstStyle/>
          <a:p>
            <a:pPr marL="0" indent="0">
              <a:buNone/>
            </a:pPr>
            <a:r>
              <a:rPr lang="en-US" sz="1100" b="1" dirty="0">
                <a:solidFill>
                  <a:srgbClr val="0D0D0D"/>
                </a:solidFill>
                <a:latin typeface="Arial Black" pitchFamily="34" charset="0"/>
                <a:ea typeface="Arial Black" pitchFamily="34" charset="-122"/>
                <a:cs typeface="Arial Black" pitchFamily="34" charset="-120"/>
              </a:rPr>
              <a:t>Regulatory Content Floor</a:t>
            </a:r>
            <a:endParaRPr lang="en-US" sz="1100" dirty="0"/>
          </a:p>
        </p:txBody>
      </p:sp>
      <p:sp>
        <p:nvSpPr>
          <p:cNvPr id="12" name="Text 10"/>
          <p:cNvSpPr/>
          <p:nvPr/>
        </p:nvSpPr>
        <p:spPr>
          <a:xfrm>
            <a:off x="3429000" y="1965960"/>
            <a:ext cx="2286000" cy="685800"/>
          </a:xfrm>
          <a:prstGeom prst="rect">
            <a:avLst/>
          </a:prstGeom>
          <a:noFill/>
          <a:ln/>
        </p:spPr>
        <p:txBody>
          <a:bodyPr wrap="square" rtlCol="0" anchor="t"/>
          <a:lstStyle/>
          <a:p>
            <a:pPr marL="0" indent="0">
              <a:buNone/>
            </a:pPr>
            <a:r>
              <a:rPr lang="en-US" sz="1000" dirty="0">
                <a:solidFill>
                  <a:srgbClr val="334155"/>
                </a:solidFill>
                <a:latin typeface="Arial" pitchFamily="34" charset="0"/>
                <a:ea typeface="Arial" pitchFamily="34" charset="-122"/>
                <a:cs typeface="Arial" pitchFamily="34" charset="-120"/>
              </a:rPr>
              <a:t>Citations, CPPs, acceptance criteria, safety warnings locked</a:t>
            </a:r>
            <a:endParaRPr lang="en-US" sz="1000" dirty="0"/>
          </a:p>
        </p:txBody>
      </p:sp>
      <p:sp>
        <p:nvSpPr>
          <p:cNvPr id="13" name="Shape 11"/>
          <p:cNvSpPr/>
          <p:nvPr/>
        </p:nvSpPr>
        <p:spPr>
          <a:xfrm>
            <a:off x="6080760" y="1463040"/>
            <a:ext cx="2560320" cy="1280160"/>
          </a:xfrm>
          <a:prstGeom prst="roundRect">
            <a:avLst>
              <a:gd name="adj" fmla="val 4286"/>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14" name="Text 12"/>
          <p:cNvSpPr/>
          <p:nvPr/>
        </p:nvSpPr>
        <p:spPr>
          <a:xfrm>
            <a:off x="6153912" y="1536192"/>
            <a:ext cx="320040" cy="320040"/>
          </a:xfrm>
          <a:prstGeom prst="ellipse">
            <a:avLst/>
          </a:prstGeom>
          <a:solidFill>
            <a:srgbClr val="F25E6B"/>
          </a:solid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5" name="Text 13"/>
          <p:cNvSpPr/>
          <p:nvPr/>
        </p:nvSpPr>
        <p:spPr>
          <a:xfrm>
            <a:off x="6537960" y="1554480"/>
            <a:ext cx="2011680" cy="320040"/>
          </a:xfrm>
          <a:prstGeom prst="rect">
            <a:avLst/>
          </a:prstGeom>
          <a:noFill/>
          <a:ln/>
        </p:spPr>
        <p:txBody>
          <a:bodyPr wrap="square" rtlCol="0" anchor="ctr"/>
          <a:lstStyle/>
          <a:p>
            <a:pPr marL="0" indent="0">
              <a:buNone/>
            </a:pPr>
            <a:r>
              <a:rPr lang="en-US" sz="1100" b="1" dirty="0">
                <a:solidFill>
                  <a:srgbClr val="0D0D0D"/>
                </a:solidFill>
                <a:latin typeface="Arial Black" pitchFamily="34" charset="0"/>
                <a:ea typeface="Arial Black" pitchFamily="34" charset="-122"/>
                <a:cs typeface="Arial Black" pitchFamily="34" charset="-120"/>
              </a:rPr>
              <a:t>Red-Line Review</a:t>
            </a:r>
            <a:endParaRPr lang="en-US" sz="1100" dirty="0"/>
          </a:p>
        </p:txBody>
      </p:sp>
      <p:sp>
        <p:nvSpPr>
          <p:cNvPr id="16" name="Text 14"/>
          <p:cNvSpPr/>
          <p:nvPr/>
        </p:nvSpPr>
        <p:spPr>
          <a:xfrm>
            <a:off x="6217920" y="1965960"/>
            <a:ext cx="2286000" cy="685800"/>
          </a:xfrm>
          <a:prstGeom prst="rect">
            <a:avLst/>
          </a:prstGeom>
          <a:noFill/>
          <a:ln/>
        </p:spPr>
        <p:txBody>
          <a:bodyPr wrap="square" rtlCol="0" anchor="t"/>
          <a:lstStyle/>
          <a:p>
            <a:pPr marL="0" indent="0">
              <a:buNone/>
            </a:pPr>
            <a:r>
              <a:rPr lang="en-US" sz="1000" dirty="0">
                <a:solidFill>
                  <a:srgbClr val="334155"/>
                </a:solidFill>
                <a:latin typeface="Arial" pitchFamily="34" charset="0"/>
                <a:ea typeface="Arial" pitchFamily="34" charset="-122"/>
                <a:cs typeface="Arial" pitchFamily="34" charset="-120"/>
              </a:rPr>
              <a:t>Every AI version vs. originals. SMEs verify no content lost</a:t>
            </a:r>
            <a:endParaRPr lang="en-US" sz="1000" dirty="0"/>
          </a:p>
        </p:txBody>
      </p:sp>
      <p:sp>
        <p:nvSpPr>
          <p:cNvPr id="17" name="Shape 15"/>
          <p:cNvSpPr/>
          <p:nvPr/>
        </p:nvSpPr>
        <p:spPr>
          <a:xfrm>
            <a:off x="8869680" y="1463040"/>
            <a:ext cx="2560320" cy="1280160"/>
          </a:xfrm>
          <a:prstGeom prst="roundRect">
            <a:avLst>
              <a:gd name="adj" fmla="val 4286"/>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18" name="Text 16"/>
          <p:cNvSpPr/>
          <p:nvPr/>
        </p:nvSpPr>
        <p:spPr>
          <a:xfrm>
            <a:off x="8942832" y="1536192"/>
            <a:ext cx="320040" cy="320040"/>
          </a:xfrm>
          <a:prstGeom prst="ellipse">
            <a:avLst/>
          </a:prstGeom>
          <a:solidFill>
            <a:srgbClr val="F25E6B"/>
          </a:solid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19" name="Text 17"/>
          <p:cNvSpPr/>
          <p:nvPr/>
        </p:nvSpPr>
        <p:spPr>
          <a:xfrm>
            <a:off x="9326880" y="1554480"/>
            <a:ext cx="2011680" cy="320040"/>
          </a:xfrm>
          <a:prstGeom prst="rect">
            <a:avLst/>
          </a:prstGeom>
          <a:noFill/>
          <a:ln/>
        </p:spPr>
        <p:txBody>
          <a:bodyPr wrap="square" rtlCol="0" anchor="ctr"/>
          <a:lstStyle/>
          <a:p>
            <a:pPr marL="0" indent="0">
              <a:buNone/>
            </a:pPr>
            <a:r>
              <a:rPr lang="en-US" sz="1100" b="1" dirty="0">
                <a:solidFill>
                  <a:srgbClr val="0D0D0D"/>
                </a:solidFill>
                <a:latin typeface="Arial Black" pitchFamily="34" charset="0"/>
                <a:ea typeface="Arial Black" pitchFamily="34" charset="-122"/>
                <a:cs typeface="Arial Black" pitchFamily="34" charset="-120"/>
              </a:rPr>
              <a:t>Pilot-Before-Scale</a:t>
            </a:r>
            <a:endParaRPr lang="en-US" sz="1100" dirty="0"/>
          </a:p>
        </p:txBody>
      </p:sp>
      <p:sp>
        <p:nvSpPr>
          <p:cNvPr id="20" name="Text 18"/>
          <p:cNvSpPr/>
          <p:nvPr/>
        </p:nvSpPr>
        <p:spPr>
          <a:xfrm>
            <a:off x="9006840" y="1965960"/>
            <a:ext cx="2286000" cy="685800"/>
          </a:xfrm>
          <a:prstGeom prst="rect">
            <a:avLst/>
          </a:prstGeom>
          <a:noFill/>
          <a:ln/>
        </p:spPr>
        <p:txBody>
          <a:bodyPr wrap="square" rtlCol="0" anchor="t"/>
          <a:lstStyle/>
          <a:p>
            <a:pPr marL="0" indent="0">
              <a:buNone/>
            </a:pPr>
            <a:r>
              <a:rPr lang="en-US" sz="1000" dirty="0">
                <a:solidFill>
                  <a:srgbClr val="334155"/>
                </a:solidFill>
                <a:latin typeface="Arial" pitchFamily="34" charset="0"/>
                <a:ea typeface="Arial" pitchFamily="34" charset="-122"/>
                <a:cs typeface="Arial" pitchFamily="34" charset="-120"/>
              </a:rPr>
              <a:t>20–30 SOPs from one department first. Measure, then roll out</a:t>
            </a:r>
            <a:endParaRPr lang="en-US" sz="1000" dirty="0"/>
          </a:p>
        </p:txBody>
      </p:sp>
      <p:sp>
        <p:nvSpPr>
          <p:cNvPr id="21" name="Shape 19"/>
          <p:cNvSpPr/>
          <p:nvPr/>
        </p:nvSpPr>
        <p:spPr>
          <a:xfrm>
            <a:off x="502920" y="2926080"/>
            <a:ext cx="2560320" cy="1280160"/>
          </a:xfrm>
          <a:prstGeom prst="roundRect">
            <a:avLst>
              <a:gd name="adj" fmla="val 4286"/>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22" name="Text 20"/>
          <p:cNvSpPr/>
          <p:nvPr/>
        </p:nvSpPr>
        <p:spPr>
          <a:xfrm>
            <a:off x="576072" y="2999232"/>
            <a:ext cx="320040" cy="320040"/>
          </a:xfrm>
          <a:prstGeom prst="ellipse">
            <a:avLst/>
          </a:prstGeom>
          <a:solidFill>
            <a:srgbClr val="F25E6B"/>
          </a:solid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23" name="Text 21"/>
          <p:cNvSpPr/>
          <p:nvPr/>
        </p:nvSpPr>
        <p:spPr>
          <a:xfrm>
            <a:off x="960120" y="3017520"/>
            <a:ext cx="2011680" cy="320040"/>
          </a:xfrm>
          <a:prstGeom prst="rect">
            <a:avLst/>
          </a:prstGeom>
          <a:noFill/>
          <a:ln/>
        </p:spPr>
        <p:txBody>
          <a:bodyPr wrap="square" rtlCol="0" anchor="ctr"/>
          <a:lstStyle/>
          <a:p>
            <a:pPr marL="0" indent="0">
              <a:buNone/>
            </a:pPr>
            <a:r>
              <a:rPr lang="en-US" sz="1100" b="1" dirty="0">
                <a:solidFill>
                  <a:srgbClr val="0D0D0D"/>
                </a:solidFill>
                <a:latin typeface="Arial Black" pitchFamily="34" charset="0"/>
                <a:ea typeface="Arial Black" pitchFamily="34" charset="-122"/>
                <a:cs typeface="Arial Black" pitchFamily="34" charset="-120"/>
              </a:rPr>
              <a:t>Full Audit Trail</a:t>
            </a:r>
            <a:endParaRPr lang="en-US" sz="1100" dirty="0"/>
          </a:p>
        </p:txBody>
      </p:sp>
      <p:sp>
        <p:nvSpPr>
          <p:cNvPr id="24" name="Text 22"/>
          <p:cNvSpPr/>
          <p:nvPr/>
        </p:nvSpPr>
        <p:spPr>
          <a:xfrm>
            <a:off x="640080" y="3429000"/>
            <a:ext cx="2286000" cy="685800"/>
          </a:xfrm>
          <a:prstGeom prst="rect">
            <a:avLst/>
          </a:prstGeom>
          <a:noFill/>
          <a:ln/>
        </p:spPr>
        <p:txBody>
          <a:bodyPr wrap="square" rtlCol="0" anchor="t"/>
          <a:lstStyle/>
          <a:p>
            <a:pPr marL="0" indent="0">
              <a:buNone/>
            </a:pPr>
            <a:r>
              <a:rPr lang="en-US" sz="1000" dirty="0">
                <a:solidFill>
                  <a:srgbClr val="334155"/>
                </a:solidFill>
                <a:latin typeface="Arial" pitchFamily="34" charset="0"/>
                <a:ea typeface="Arial" pitchFamily="34" charset="-122"/>
                <a:cs typeface="Arial" pitchFamily="34" charset="-120"/>
              </a:rPr>
              <a:t>Complete traceability of AI suggestions vs. human-accepted changes</a:t>
            </a:r>
            <a:endParaRPr lang="en-US" sz="1000" dirty="0"/>
          </a:p>
        </p:txBody>
      </p:sp>
      <p:sp>
        <p:nvSpPr>
          <p:cNvPr id="25" name="Shape 23"/>
          <p:cNvSpPr/>
          <p:nvPr/>
        </p:nvSpPr>
        <p:spPr>
          <a:xfrm>
            <a:off x="3291840" y="2926080"/>
            <a:ext cx="2560320" cy="1280160"/>
          </a:xfrm>
          <a:prstGeom prst="roundRect">
            <a:avLst>
              <a:gd name="adj" fmla="val 4286"/>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26" name="Text 24"/>
          <p:cNvSpPr/>
          <p:nvPr/>
        </p:nvSpPr>
        <p:spPr>
          <a:xfrm>
            <a:off x="3364992" y="2999232"/>
            <a:ext cx="320040" cy="320040"/>
          </a:xfrm>
          <a:prstGeom prst="ellipse">
            <a:avLst/>
          </a:prstGeom>
          <a:solidFill>
            <a:srgbClr val="F25E6B"/>
          </a:solid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27" name="Text 25"/>
          <p:cNvSpPr/>
          <p:nvPr/>
        </p:nvSpPr>
        <p:spPr>
          <a:xfrm>
            <a:off x="3749040" y="3017520"/>
            <a:ext cx="2011680" cy="320040"/>
          </a:xfrm>
          <a:prstGeom prst="rect">
            <a:avLst/>
          </a:prstGeom>
          <a:noFill/>
          <a:ln/>
        </p:spPr>
        <p:txBody>
          <a:bodyPr wrap="square" rtlCol="0" anchor="ctr"/>
          <a:lstStyle/>
          <a:p>
            <a:pPr marL="0" indent="0">
              <a:buNone/>
            </a:pPr>
            <a:r>
              <a:rPr lang="en-US" sz="1100" b="1" dirty="0">
                <a:solidFill>
                  <a:srgbClr val="0D0D0D"/>
                </a:solidFill>
                <a:latin typeface="Arial Black" pitchFamily="34" charset="0"/>
                <a:ea typeface="Arial Black" pitchFamily="34" charset="-122"/>
                <a:cs typeface="Arial Black" pitchFamily="34" charset="-120"/>
              </a:rPr>
              <a:t>GAMP 5 + ALCOA+</a:t>
            </a:r>
            <a:endParaRPr lang="en-US" sz="1100" dirty="0"/>
          </a:p>
        </p:txBody>
      </p:sp>
      <p:sp>
        <p:nvSpPr>
          <p:cNvPr id="28" name="Text 26"/>
          <p:cNvSpPr/>
          <p:nvPr/>
        </p:nvSpPr>
        <p:spPr>
          <a:xfrm>
            <a:off x="3429000" y="3429000"/>
            <a:ext cx="2286000" cy="685800"/>
          </a:xfrm>
          <a:prstGeom prst="rect">
            <a:avLst/>
          </a:prstGeom>
          <a:noFill/>
          <a:ln/>
        </p:spPr>
        <p:txBody>
          <a:bodyPr wrap="square" rtlCol="0" anchor="t"/>
          <a:lstStyle/>
          <a:p>
            <a:pPr marL="0" indent="0">
              <a:buNone/>
            </a:pPr>
            <a:r>
              <a:rPr lang="en-US" sz="1000" dirty="0">
                <a:solidFill>
                  <a:srgbClr val="334155"/>
                </a:solidFill>
                <a:latin typeface="Arial" pitchFamily="34" charset="0"/>
                <a:ea typeface="Arial" pitchFamily="34" charset="-122"/>
                <a:cs typeface="Arial" pitchFamily="34" charset="-120"/>
              </a:rPr>
              <a:t>Risk-based validation. Data integrity. Formal change control</a:t>
            </a:r>
            <a:endParaRPr lang="en-US" sz="1000" dirty="0"/>
          </a:p>
        </p:txBody>
      </p:sp>
      <p:sp>
        <p:nvSpPr>
          <p:cNvPr id="29" name="Shape 27"/>
          <p:cNvSpPr/>
          <p:nvPr/>
        </p:nvSpPr>
        <p:spPr>
          <a:xfrm>
            <a:off x="6080760" y="2926080"/>
            <a:ext cx="2560320" cy="1280160"/>
          </a:xfrm>
          <a:prstGeom prst="roundRect">
            <a:avLst>
              <a:gd name="adj" fmla="val 4286"/>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30" name="Text 28"/>
          <p:cNvSpPr/>
          <p:nvPr/>
        </p:nvSpPr>
        <p:spPr>
          <a:xfrm>
            <a:off x="6153912" y="2999232"/>
            <a:ext cx="320040" cy="320040"/>
          </a:xfrm>
          <a:prstGeom prst="ellipse">
            <a:avLst/>
          </a:prstGeom>
          <a:solidFill>
            <a:srgbClr val="F25E6B"/>
          </a:solid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7</a:t>
            </a:r>
            <a:endParaRPr lang="en-US" sz="1400" dirty="0"/>
          </a:p>
        </p:txBody>
      </p:sp>
      <p:sp>
        <p:nvSpPr>
          <p:cNvPr id="31" name="Text 29"/>
          <p:cNvSpPr/>
          <p:nvPr/>
        </p:nvSpPr>
        <p:spPr>
          <a:xfrm>
            <a:off x="6537960" y="3017520"/>
            <a:ext cx="2011680" cy="320040"/>
          </a:xfrm>
          <a:prstGeom prst="rect">
            <a:avLst/>
          </a:prstGeom>
          <a:noFill/>
          <a:ln/>
        </p:spPr>
        <p:txBody>
          <a:bodyPr wrap="square" rtlCol="0" anchor="ctr"/>
          <a:lstStyle/>
          <a:p>
            <a:pPr marL="0" indent="0">
              <a:buNone/>
            </a:pPr>
            <a:r>
              <a:rPr lang="en-US" sz="1100" b="1" dirty="0">
                <a:solidFill>
                  <a:srgbClr val="0D0D0D"/>
                </a:solidFill>
                <a:latin typeface="Arial Black" pitchFamily="34" charset="0"/>
                <a:ea typeface="Arial Black" pitchFamily="34" charset="-122"/>
                <a:cs typeface="Arial Black" pitchFamily="34" charset="-120"/>
              </a:rPr>
              <a:t>Operator Feedback Loop</a:t>
            </a:r>
            <a:endParaRPr lang="en-US" sz="1100" dirty="0"/>
          </a:p>
        </p:txBody>
      </p:sp>
      <p:sp>
        <p:nvSpPr>
          <p:cNvPr id="32" name="Text 30"/>
          <p:cNvSpPr/>
          <p:nvPr/>
        </p:nvSpPr>
        <p:spPr>
          <a:xfrm>
            <a:off x="6217920" y="3429000"/>
            <a:ext cx="2286000" cy="685800"/>
          </a:xfrm>
          <a:prstGeom prst="rect">
            <a:avLst/>
          </a:prstGeom>
          <a:noFill/>
          <a:ln/>
        </p:spPr>
        <p:txBody>
          <a:bodyPr wrap="square" rtlCol="0" anchor="t"/>
          <a:lstStyle/>
          <a:p>
            <a:pPr marL="0" indent="0">
              <a:buNone/>
            </a:pPr>
            <a:r>
              <a:rPr lang="en-US" sz="1000" dirty="0">
                <a:solidFill>
                  <a:srgbClr val="334155"/>
                </a:solidFill>
                <a:latin typeface="Arial" pitchFamily="34" charset="0"/>
                <a:ea typeface="Arial" pitchFamily="34" charset="-122"/>
                <a:cs typeface="Arial" pitchFamily="34" charset="-120"/>
              </a:rPr>
              <a:t>Floor staff flag issues within 30–60 days</a:t>
            </a:r>
            <a:endParaRPr lang="en-US" sz="1000" dirty="0"/>
          </a:p>
        </p:txBody>
      </p:sp>
      <p:sp>
        <p:nvSpPr>
          <p:cNvPr id="33" name="Shape 31"/>
          <p:cNvSpPr/>
          <p:nvPr/>
        </p:nvSpPr>
        <p:spPr>
          <a:xfrm>
            <a:off x="8869680" y="2926080"/>
            <a:ext cx="2560320" cy="1280160"/>
          </a:xfrm>
          <a:prstGeom prst="roundRect">
            <a:avLst>
              <a:gd name="adj" fmla="val 4286"/>
            </a:avLst>
          </a:prstGeom>
          <a:solidFill>
            <a:srgbClr val="FFFFFF"/>
          </a:solidFill>
          <a:ln/>
          <a:effectLst>
            <a:outerShdw blurRad="38100" dist="25400" dir="16200000" algn="bl" rotWithShape="0">
              <a:srgbClr val="CCCCCC">
                <a:alpha val="30000"/>
              </a:srgbClr>
            </a:outerShdw>
          </a:effectLst>
        </p:spPr>
        <p:txBody>
          <a:bodyPr/>
          <a:lstStyle/>
          <a:p>
            <a:endParaRPr lang="en-US"/>
          </a:p>
        </p:txBody>
      </p:sp>
      <p:sp>
        <p:nvSpPr>
          <p:cNvPr id="34" name="Text 32"/>
          <p:cNvSpPr/>
          <p:nvPr/>
        </p:nvSpPr>
        <p:spPr>
          <a:xfrm>
            <a:off x="8942832" y="2999232"/>
            <a:ext cx="320040" cy="320040"/>
          </a:xfrm>
          <a:prstGeom prst="ellipse">
            <a:avLst/>
          </a:prstGeom>
          <a:solidFill>
            <a:srgbClr val="F25E6B"/>
          </a:solid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8</a:t>
            </a:r>
            <a:endParaRPr lang="en-US" sz="1400" dirty="0"/>
          </a:p>
        </p:txBody>
      </p:sp>
      <p:sp>
        <p:nvSpPr>
          <p:cNvPr id="35" name="Text 33"/>
          <p:cNvSpPr/>
          <p:nvPr/>
        </p:nvSpPr>
        <p:spPr>
          <a:xfrm>
            <a:off x="9326880" y="3017520"/>
            <a:ext cx="2011680" cy="320040"/>
          </a:xfrm>
          <a:prstGeom prst="rect">
            <a:avLst/>
          </a:prstGeom>
          <a:noFill/>
          <a:ln/>
        </p:spPr>
        <p:txBody>
          <a:bodyPr wrap="square" rtlCol="0" anchor="ctr"/>
          <a:lstStyle/>
          <a:p>
            <a:pPr marL="0" indent="0">
              <a:buNone/>
            </a:pPr>
            <a:r>
              <a:rPr lang="en-US" sz="1100" b="1" dirty="0">
                <a:solidFill>
                  <a:srgbClr val="0D0D0D"/>
                </a:solidFill>
                <a:latin typeface="Arial Black" pitchFamily="34" charset="0"/>
                <a:ea typeface="Arial Black" pitchFamily="34" charset="-122"/>
                <a:cs typeface="Arial Black" pitchFamily="34" charset="-120"/>
              </a:rPr>
              <a:t>Rollback &amp; Monitoring</a:t>
            </a:r>
            <a:endParaRPr lang="en-US" sz="1100" dirty="0"/>
          </a:p>
        </p:txBody>
      </p:sp>
      <p:sp>
        <p:nvSpPr>
          <p:cNvPr id="36" name="Text 34"/>
          <p:cNvSpPr/>
          <p:nvPr/>
        </p:nvSpPr>
        <p:spPr>
          <a:xfrm>
            <a:off x="9006840" y="3429000"/>
            <a:ext cx="2286000" cy="685800"/>
          </a:xfrm>
          <a:prstGeom prst="rect">
            <a:avLst/>
          </a:prstGeom>
          <a:noFill/>
          <a:ln/>
        </p:spPr>
        <p:txBody>
          <a:bodyPr wrap="square" rtlCol="0" anchor="t"/>
          <a:lstStyle/>
          <a:p>
            <a:pPr marL="0" indent="0">
              <a:buNone/>
            </a:pPr>
            <a:r>
              <a:rPr lang="en-US" sz="1000" dirty="0">
                <a:solidFill>
                  <a:srgbClr val="334155"/>
                </a:solidFill>
                <a:latin typeface="Arial" pitchFamily="34" charset="0"/>
                <a:ea typeface="Arial" pitchFamily="34" charset="-122"/>
                <a:cs typeface="Arial" pitchFamily="34" charset="-120"/>
              </a:rPr>
              <a:t>Originals maintained. 6–12 month tracking</a:t>
            </a:r>
            <a:endParaRPr lang="en-US" sz="1000" dirty="0"/>
          </a:p>
        </p:txBody>
      </p:sp>
      <p:sp>
        <p:nvSpPr>
          <p:cNvPr id="37" name="Text 35"/>
          <p:cNvSpPr/>
          <p:nvPr/>
        </p:nvSpPr>
        <p:spPr>
          <a:xfrm>
            <a:off x="0" y="6400800"/>
            <a:ext cx="12188952" cy="36576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Confidential</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Why Work With Us</a:t>
            </a:r>
            <a:endParaRPr lang="en-US" sz="2800" dirty="0"/>
          </a:p>
        </p:txBody>
      </p:sp>
      <p:sp>
        <p:nvSpPr>
          <p:cNvPr id="4" name="Text 2"/>
          <p:cNvSpPr/>
          <p:nvPr/>
        </p:nvSpPr>
        <p:spPr>
          <a:xfrm>
            <a:off x="640080" y="1417320"/>
            <a:ext cx="457200" cy="457200"/>
          </a:xfrm>
          <a:prstGeom prst="ellipse">
            <a:avLst/>
          </a:prstGeom>
          <a:solidFill>
            <a:srgbClr val="F25E6B"/>
          </a:solid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5" name="Text 3"/>
          <p:cNvSpPr/>
          <p:nvPr/>
        </p:nvSpPr>
        <p:spPr>
          <a:xfrm>
            <a:off x="1280160" y="1371600"/>
            <a:ext cx="9144000" cy="365760"/>
          </a:xfrm>
          <a:prstGeom prst="rect">
            <a:avLst/>
          </a:prstGeom>
          <a:noFill/>
          <a:ln/>
        </p:spPr>
        <p:txBody>
          <a:bodyPr wrap="square" rtlCol="0" anchor="ctr"/>
          <a:lstStyle/>
          <a:p>
            <a:pPr marL="0" indent="0">
              <a:buNone/>
            </a:pPr>
            <a:r>
              <a:rPr lang="en-US" sz="1500" b="1" dirty="0">
                <a:solidFill>
                  <a:srgbClr val="0D0D0D"/>
                </a:solidFill>
                <a:latin typeface="Arial Black" pitchFamily="34" charset="0"/>
                <a:ea typeface="Arial Black" pitchFamily="34" charset="-122"/>
                <a:cs typeface="Arial Black" pitchFamily="34" charset="-120"/>
              </a:rPr>
              <a:t>Proven Client Relationships</a:t>
            </a:r>
            <a:endParaRPr lang="en-US" sz="1500" dirty="0"/>
          </a:p>
        </p:txBody>
      </p:sp>
      <p:sp>
        <p:nvSpPr>
          <p:cNvPr id="6" name="Text 4"/>
          <p:cNvSpPr/>
          <p:nvPr/>
        </p:nvSpPr>
        <p:spPr>
          <a:xfrm>
            <a:off x="1280160" y="1737360"/>
            <a:ext cx="9601200" cy="411480"/>
          </a:xfrm>
          <a:prstGeom prst="rect">
            <a:avLst/>
          </a:prstGeom>
          <a:noFill/>
          <a:ln/>
        </p:spPr>
        <p:txBody>
          <a:bodyPr wrap="square" rtlCol="0" anchor="ctr"/>
          <a:lstStyle/>
          <a:p>
            <a:pPr marL="0" indent="0">
              <a:buNone/>
            </a:pPr>
            <a:r>
              <a:rPr lang="en-US" sz="1200" dirty="0">
                <a:solidFill>
                  <a:srgbClr val="334155"/>
                </a:solidFill>
                <a:latin typeface="Arial" pitchFamily="34" charset="0"/>
                <a:ea typeface="Arial" pitchFamily="34" charset="-122"/>
                <a:cs typeface="Arial" pitchFamily="34" charset="-120"/>
              </a:rPr>
              <a:t>CPMAI framework presented at industry local &amp; global forums</a:t>
            </a:r>
            <a:endParaRPr lang="en-US" sz="1200" dirty="0"/>
          </a:p>
        </p:txBody>
      </p:sp>
      <p:sp>
        <p:nvSpPr>
          <p:cNvPr id="7" name="Text 5"/>
          <p:cNvSpPr/>
          <p:nvPr/>
        </p:nvSpPr>
        <p:spPr>
          <a:xfrm>
            <a:off x="640080" y="2377440"/>
            <a:ext cx="457200" cy="457200"/>
          </a:xfrm>
          <a:prstGeom prst="ellipse">
            <a:avLst/>
          </a:prstGeom>
          <a:solidFill>
            <a:srgbClr val="F25E6B"/>
          </a:solid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8" name="Text 6"/>
          <p:cNvSpPr/>
          <p:nvPr/>
        </p:nvSpPr>
        <p:spPr>
          <a:xfrm>
            <a:off x="1280160" y="2331720"/>
            <a:ext cx="9144000" cy="365760"/>
          </a:xfrm>
          <a:prstGeom prst="rect">
            <a:avLst/>
          </a:prstGeom>
          <a:noFill/>
          <a:ln/>
        </p:spPr>
        <p:txBody>
          <a:bodyPr wrap="square" rtlCol="0" anchor="ctr"/>
          <a:lstStyle/>
          <a:p>
            <a:pPr marL="0" indent="0">
              <a:buNone/>
            </a:pPr>
            <a:r>
              <a:rPr lang="en-US" sz="1500" b="1" dirty="0">
                <a:solidFill>
                  <a:srgbClr val="0D0D0D"/>
                </a:solidFill>
                <a:latin typeface="Arial Black" pitchFamily="34" charset="0"/>
                <a:ea typeface="Arial Black" pitchFamily="34" charset="-122"/>
                <a:cs typeface="Arial Black" pitchFamily="34" charset="-120"/>
              </a:rPr>
              <a:t>Proprietary Methodology</a:t>
            </a:r>
            <a:endParaRPr lang="en-US" sz="1500" dirty="0"/>
          </a:p>
        </p:txBody>
      </p:sp>
      <p:sp>
        <p:nvSpPr>
          <p:cNvPr id="9" name="Text 7"/>
          <p:cNvSpPr/>
          <p:nvPr/>
        </p:nvSpPr>
        <p:spPr>
          <a:xfrm>
            <a:off x="1280160" y="2697480"/>
            <a:ext cx="9601200" cy="411480"/>
          </a:xfrm>
          <a:prstGeom prst="rect">
            <a:avLst/>
          </a:prstGeom>
          <a:noFill/>
          <a:ln/>
        </p:spPr>
        <p:txBody>
          <a:bodyPr wrap="square" rtlCol="0" anchor="ctr"/>
          <a:lstStyle/>
          <a:p>
            <a:pPr marL="0" indent="0">
              <a:buNone/>
            </a:pPr>
            <a:r>
              <a:rPr lang="en-US" sz="1200" dirty="0">
                <a:solidFill>
                  <a:srgbClr val="334155"/>
                </a:solidFill>
                <a:latin typeface="Arial" pitchFamily="34" charset="0"/>
                <a:ea typeface="Arial" pitchFamily="34" charset="-122"/>
                <a:cs typeface="Arial" pitchFamily="34" charset="-120"/>
              </a:rPr>
              <a:t>Proprietary six-phase AI lifecycle for FDA-regulated environments</a:t>
            </a:r>
            <a:endParaRPr lang="en-US" sz="1200" dirty="0"/>
          </a:p>
        </p:txBody>
      </p:sp>
      <p:sp>
        <p:nvSpPr>
          <p:cNvPr id="10" name="Text 8"/>
          <p:cNvSpPr/>
          <p:nvPr/>
        </p:nvSpPr>
        <p:spPr>
          <a:xfrm>
            <a:off x="640080" y="3337560"/>
            <a:ext cx="457200" cy="457200"/>
          </a:xfrm>
          <a:prstGeom prst="ellipse">
            <a:avLst/>
          </a:prstGeom>
          <a:solidFill>
            <a:srgbClr val="F25E6B"/>
          </a:solid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1" name="Text 9"/>
          <p:cNvSpPr/>
          <p:nvPr/>
        </p:nvSpPr>
        <p:spPr>
          <a:xfrm>
            <a:off x="1280160" y="3291840"/>
            <a:ext cx="9144000" cy="365760"/>
          </a:xfrm>
          <a:prstGeom prst="rect">
            <a:avLst/>
          </a:prstGeom>
          <a:noFill/>
          <a:ln/>
        </p:spPr>
        <p:txBody>
          <a:bodyPr wrap="square" rtlCol="0" anchor="ctr"/>
          <a:lstStyle/>
          <a:p>
            <a:pPr marL="0" indent="0">
              <a:buNone/>
            </a:pPr>
            <a:r>
              <a:rPr lang="en-US" sz="1500" b="1" dirty="0">
                <a:solidFill>
                  <a:srgbClr val="0D0D0D"/>
                </a:solidFill>
                <a:latin typeface="Arial Black" pitchFamily="34" charset="0"/>
                <a:ea typeface="Arial Black" pitchFamily="34" charset="-122"/>
                <a:cs typeface="Arial Black" pitchFamily="34" charset="-120"/>
              </a:rPr>
              <a:t>Multi-Agent Automation</a:t>
            </a:r>
            <a:endParaRPr lang="en-US" sz="1500" dirty="0"/>
          </a:p>
        </p:txBody>
      </p:sp>
      <p:sp>
        <p:nvSpPr>
          <p:cNvPr id="12" name="Text 10"/>
          <p:cNvSpPr/>
          <p:nvPr/>
        </p:nvSpPr>
        <p:spPr>
          <a:xfrm>
            <a:off x="1280160" y="3657600"/>
            <a:ext cx="9601200" cy="411480"/>
          </a:xfrm>
          <a:prstGeom prst="rect">
            <a:avLst/>
          </a:prstGeom>
          <a:noFill/>
          <a:ln/>
        </p:spPr>
        <p:txBody>
          <a:bodyPr wrap="square" rtlCol="0" anchor="ctr"/>
          <a:lstStyle/>
          <a:p>
            <a:pPr marL="0" indent="0">
              <a:buNone/>
            </a:pPr>
            <a:r>
              <a:rPr lang="en-US" sz="1200" dirty="0">
                <a:solidFill>
                  <a:srgbClr val="334155"/>
                </a:solidFill>
                <a:latin typeface="Arial" pitchFamily="34" charset="0"/>
                <a:ea typeface="Arial" pitchFamily="34" charset="-122"/>
                <a:cs typeface="Arial" pitchFamily="34" charset="-120"/>
              </a:rPr>
              <a:t>Track record reducing manual workloads by 40% in pharma operations</a:t>
            </a:r>
            <a:endParaRPr lang="en-US" sz="1200" dirty="0"/>
          </a:p>
        </p:txBody>
      </p:sp>
      <p:sp>
        <p:nvSpPr>
          <p:cNvPr id="13" name="Text 11"/>
          <p:cNvSpPr/>
          <p:nvPr/>
        </p:nvSpPr>
        <p:spPr>
          <a:xfrm>
            <a:off x="640080" y="4297680"/>
            <a:ext cx="457200" cy="457200"/>
          </a:xfrm>
          <a:prstGeom prst="ellipse">
            <a:avLst/>
          </a:prstGeom>
          <a:solidFill>
            <a:srgbClr val="F25E6B"/>
          </a:solid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14" name="Text 12"/>
          <p:cNvSpPr/>
          <p:nvPr/>
        </p:nvSpPr>
        <p:spPr>
          <a:xfrm>
            <a:off x="1280160" y="4251960"/>
            <a:ext cx="9144000" cy="365760"/>
          </a:xfrm>
          <a:prstGeom prst="rect">
            <a:avLst/>
          </a:prstGeom>
          <a:noFill/>
          <a:ln/>
        </p:spPr>
        <p:txBody>
          <a:bodyPr wrap="square" rtlCol="0" anchor="ctr"/>
          <a:lstStyle/>
          <a:p>
            <a:pPr marL="0" indent="0">
              <a:buNone/>
            </a:pPr>
            <a:r>
              <a:rPr lang="en-US" sz="1500" b="1" dirty="0">
                <a:solidFill>
                  <a:srgbClr val="0D0D0D"/>
                </a:solidFill>
                <a:latin typeface="Arial Black" pitchFamily="34" charset="0"/>
                <a:ea typeface="Arial Black" pitchFamily="34" charset="-122"/>
                <a:cs typeface="Arial Black" pitchFamily="34" charset="-120"/>
              </a:rPr>
              <a:t>AI + Regulatory</a:t>
            </a:r>
            <a:endParaRPr lang="en-US" sz="1500" dirty="0"/>
          </a:p>
        </p:txBody>
      </p:sp>
      <p:sp>
        <p:nvSpPr>
          <p:cNvPr id="15" name="Text 13"/>
          <p:cNvSpPr/>
          <p:nvPr/>
        </p:nvSpPr>
        <p:spPr>
          <a:xfrm>
            <a:off x="1280160" y="4617720"/>
            <a:ext cx="9601200" cy="411480"/>
          </a:xfrm>
          <a:prstGeom prst="rect">
            <a:avLst/>
          </a:prstGeom>
          <a:noFill/>
          <a:ln/>
        </p:spPr>
        <p:txBody>
          <a:bodyPr wrap="square" rtlCol="0" anchor="ctr"/>
          <a:lstStyle/>
          <a:p>
            <a:pPr marL="0" indent="0">
              <a:buNone/>
            </a:pPr>
            <a:r>
              <a:rPr lang="en-US" sz="1200" dirty="0">
                <a:solidFill>
                  <a:srgbClr val="334155"/>
                </a:solidFill>
                <a:latin typeface="Arial" pitchFamily="34" charset="0"/>
                <a:ea typeface="Arial" pitchFamily="34" charset="-122"/>
                <a:cs typeface="Arial" pitchFamily="34" charset="-120"/>
              </a:rPr>
              <a:t>MBA, MSHS, MEng Applied AI — practical, compliant, operationally sound</a:t>
            </a:r>
            <a:endParaRPr lang="en-US" sz="1200" dirty="0"/>
          </a:p>
        </p:txBody>
      </p:sp>
      <p:sp>
        <p:nvSpPr>
          <p:cNvPr id="16" name="Text 14"/>
          <p:cNvSpPr/>
          <p:nvPr/>
        </p:nvSpPr>
        <p:spPr>
          <a:xfrm>
            <a:off x="640080" y="5257800"/>
            <a:ext cx="457200" cy="457200"/>
          </a:xfrm>
          <a:prstGeom prst="ellipse">
            <a:avLst/>
          </a:prstGeom>
          <a:solidFill>
            <a:srgbClr val="F25E6B"/>
          </a:solidFill>
          <a:ln/>
        </p:spPr>
        <p:txBody>
          <a:bodyPr wrap="square"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5</a:t>
            </a:r>
            <a:endParaRPr lang="en-US" sz="1600" dirty="0"/>
          </a:p>
        </p:txBody>
      </p:sp>
      <p:sp>
        <p:nvSpPr>
          <p:cNvPr id="17" name="Text 15"/>
          <p:cNvSpPr/>
          <p:nvPr/>
        </p:nvSpPr>
        <p:spPr>
          <a:xfrm>
            <a:off x="1280160" y="5212080"/>
            <a:ext cx="9144000" cy="365760"/>
          </a:xfrm>
          <a:prstGeom prst="rect">
            <a:avLst/>
          </a:prstGeom>
          <a:noFill/>
          <a:ln/>
        </p:spPr>
        <p:txBody>
          <a:bodyPr wrap="square" rtlCol="0" anchor="ctr"/>
          <a:lstStyle/>
          <a:p>
            <a:pPr marL="0" indent="0">
              <a:buNone/>
            </a:pPr>
            <a:r>
              <a:rPr lang="en-US" sz="1500" b="1" dirty="0">
                <a:solidFill>
                  <a:srgbClr val="0D0D0D"/>
                </a:solidFill>
                <a:latin typeface="Arial Black" pitchFamily="34" charset="0"/>
                <a:ea typeface="Arial Black" pitchFamily="34" charset="-122"/>
                <a:cs typeface="Arial Black" pitchFamily="34" charset="-120"/>
              </a:rPr>
              <a:t>Deep NLP Engineering</a:t>
            </a:r>
            <a:endParaRPr lang="en-US" sz="1500" dirty="0"/>
          </a:p>
        </p:txBody>
      </p:sp>
      <p:sp>
        <p:nvSpPr>
          <p:cNvPr id="18" name="Text 16"/>
          <p:cNvSpPr/>
          <p:nvPr/>
        </p:nvSpPr>
        <p:spPr>
          <a:xfrm>
            <a:off x="1280160" y="5577840"/>
            <a:ext cx="9601200" cy="411480"/>
          </a:xfrm>
          <a:prstGeom prst="rect">
            <a:avLst/>
          </a:prstGeom>
          <a:noFill/>
          <a:ln/>
        </p:spPr>
        <p:txBody>
          <a:bodyPr wrap="square" rtlCol="0" anchor="ctr"/>
          <a:lstStyle/>
          <a:p>
            <a:pPr marL="0" indent="0">
              <a:buNone/>
            </a:pPr>
            <a:r>
              <a:rPr lang="en-US" sz="1200" dirty="0">
                <a:solidFill>
                  <a:srgbClr val="334155"/>
                </a:solidFill>
                <a:latin typeface="Arial" pitchFamily="34" charset="0"/>
                <a:ea typeface="Arial" pitchFamily="34" charset="-122"/>
                <a:cs typeface="Arial" pitchFamily="34" charset="-120"/>
              </a:rPr>
              <a:t>Python, SQL, Spark, LangChain, CrewAI, RAG on AWS/Azure/GCP</a:t>
            </a:r>
            <a:endParaRPr lang="en-US" sz="1200" dirty="0"/>
          </a:p>
        </p:txBody>
      </p:sp>
      <p:sp>
        <p:nvSpPr>
          <p:cNvPr id="19" name="Text 17"/>
          <p:cNvSpPr/>
          <p:nvPr/>
        </p:nvSpPr>
        <p:spPr>
          <a:xfrm>
            <a:off x="0" y="6400800"/>
            <a:ext cx="12188952" cy="36576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Confidential</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Projected ROI &amp; Outcomes</a:t>
            </a:r>
            <a:endParaRPr lang="en-US" sz="2800" dirty="0"/>
          </a:p>
        </p:txBody>
      </p:sp>
      <p:sp>
        <p:nvSpPr>
          <p:cNvPr id="4" name="Text 2"/>
          <p:cNvSpPr/>
          <p:nvPr/>
        </p:nvSpPr>
        <p:spPr>
          <a:xfrm>
            <a:off x="731520" y="960120"/>
            <a:ext cx="9144000" cy="320040"/>
          </a:xfrm>
          <a:prstGeom prst="rect">
            <a:avLst/>
          </a:prstGeom>
          <a:noFill/>
          <a:ln/>
        </p:spPr>
        <p:txBody>
          <a:bodyPr wrap="square" rtlCol="0" anchor="ctr"/>
          <a:lstStyle/>
          <a:p>
            <a:pPr marL="0" indent="0">
              <a:buNone/>
            </a:pPr>
            <a:r>
              <a:rPr lang="en-US" sz="1300" i="1" dirty="0">
                <a:solidFill>
                  <a:srgbClr val="F25E6B"/>
                </a:solidFill>
                <a:latin typeface="Arial" pitchFamily="34" charset="0"/>
                <a:ea typeface="Arial" pitchFamily="34" charset="-122"/>
                <a:cs typeface="Arial" pitchFamily="34" charset="-120"/>
              </a:rPr>
              <a:t>Quality leads. Volume follows.</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383280"/>
        </p:xfrm>
        <a:graphic>
          <a:graphicData uri="http://schemas.openxmlformats.org/drawingml/2006/table">
            <a:tbl>
              <a:tblPr/>
              <a:tblGrid>
                <a:gridCol w="320040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Arial" pitchFamily="34" charset="0"/>
                          <a:ea typeface="Arial" pitchFamily="34" charset="-122"/>
                          <a:cs typeface="Arial" pitchFamily="34" charset="-120"/>
                        </a:rPr>
                        <a:t>Outcome</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5E6B"/>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Projected Impact</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5E6B"/>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334155"/>
                          </a:solidFill>
                          <a:latin typeface="Arial" pitchFamily="34" charset="0"/>
                          <a:ea typeface="Arial" pitchFamily="34" charset="-122"/>
                          <a:cs typeface="Arial" pitchFamily="34" charset="-120"/>
                        </a:rPr>
                        <a:t>SOP Quality Scorecard</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Arial" pitchFamily="34" charset="0"/>
                          <a:ea typeface="Arial" pitchFamily="34" charset="-122"/>
                          <a:cs typeface="Arial" pitchFamily="34" charset="-120"/>
                        </a:rPr>
                        <a:t>Measurable improvement: clarity, completeness, usability, consistency, defensibility</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dirty="0">
                          <a:solidFill>
                            <a:srgbClr val="334155"/>
                          </a:solidFill>
                          <a:latin typeface="Arial" pitchFamily="34" charset="0"/>
                          <a:ea typeface="Arial" pitchFamily="34" charset="-122"/>
                          <a:cs typeface="Arial" pitchFamily="34" charset="-120"/>
                        </a:rPr>
                        <a:t>SOP-Related Deviations</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Arial" pitchFamily="34" charset="0"/>
                          <a:ea typeface="Arial" pitchFamily="34" charset="-122"/>
                          <a:cs typeface="Arial" pitchFamily="34" charset="-120"/>
                        </a:rPr>
                        <a:t>20–30% reduction within 12 months</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rgbClr val="334155"/>
                          </a:solidFill>
                          <a:latin typeface="Arial" pitchFamily="34" charset="0"/>
                          <a:ea typeface="Arial" pitchFamily="34" charset="-122"/>
                          <a:cs typeface="Arial" pitchFamily="34" charset="-120"/>
                        </a:rPr>
                        <a:t>Revision Cycle Time</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Arial" pitchFamily="34" charset="0"/>
                          <a:ea typeface="Arial" pitchFamily="34" charset="-122"/>
                          <a:cs typeface="Arial" pitchFamily="34" charset="-120"/>
                        </a:rPr>
                        <a:t>50–70% reduction (90+ days → 30–45 days)</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00" dirty="0">
                          <a:solidFill>
                            <a:srgbClr val="334155"/>
                          </a:solidFill>
                          <a:latin typeface="Arial" pitchFamily="34" charset="0"/>
                          <a:ea typeface="Arial" pitchFamily="34" charset="-122"/>
                          <a:cs typeface="Arial" pitchFamily="34" charset="-120"/>
                        </a:rPr>
                        <a:t>Operator Confidence</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Arial" pitchFamily="34" charset="0"/>
                          <a:ea typeface="Arial" pitchFamily="34" charset="-122"/>
                          <a:cs typeface="Arial" pitchFamily="34" charset="-120"/>
                        </a:rPr>
                        <a:t>Improved usability scores via structured floor feedback</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00" dirty="0">
                          <a:solidFill>
                            <a:srgbClr val="334155"/>
                          </a:solidFill>
                          <a:latin typeface="Arial" pitchFamily="34" charset="0"/>
                          <a:ea typeface="Arial" pitchFamily="34" charset="-122"/>
                          <a:cs typeface="Arial" pitchFamily="34" charset="-120"/>
                        </a:rPr>
                        <a:t>FDA Audit Readiness</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Arial" pitchFamily="34" charset="0"/>
                          <a:ea typeface="Arial" pitchFamily="34" charset="-122"/>
                          <a:cs typeface="Arial" pitchFamily="34" charset="-120"/>
                        </a:rPr>
                        <a:t>Proactive remediation of top 483-cited documentation gaps</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00" dirty="0">
                          <a:solidFill>
                            <a:srgbClr val="334155"/>
                          </a:solidFill>
                          <a:latin typeface="Arial" pitchFamily="34" charset="0"/>
                          <a:ea typeface="Arial" pitchFamily="34" charset="-122"/>
                          <a:cs typeface="Arial" pitchFamily="34" charset="-120"/>
                        </a:rPr>
                        <a:t>Annual Cost Savings</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Arial" pitchFamily="34" charset="0"/>
                          <a:ea typeface="Arial" pitchFamily="34" charset="-122"/>
                          <a:cs typeface="Arial" pitchFamily="34" charset="-120"/>
                        </a:rPr>
                        <a:t>$500K–$2M (deviations, training, document management efficiency)</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p:nvPr/>
        </p:nvSpPr>
        <p:spPr>
          <a:xfrm>
            <a:off x="0" y="6400800"/>
            <a:ext cx="12188952" cy="36576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 Illustrative numbers based on previous SOP transformation projects.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0D0D"/>
        </a:solidFill>
        <a:effectLst/>
      </p:bgPr>
    </p:bg>
    <p:spTree>
      <p:nvGrpSpPr>
        <p:cNvPr id="1" name=""/>
        <p:cNvGrpSpPr/>
        <p:nvPr/>
      </p:nvGrpSpPr>
      <p:grpSpPr>
        <a:xfrm>
          <a:off x="0" y="0"/>
          <a:ext cx="0" cy="0"/>
          <a:chOff x="0" y="0"/>
          <a:chExt cx="0" cy="0"/>
        </a:xfrm>
      </p:grpSpPr>
      <p:sp>
        <p:nvSpPr>
          <p:cNvPr id="2" name="Text 0"/>
          <p:cNvSpPr/>
          <p:nvPr/>
        </p:nvSpPr>
        <p:spPr>
          <a:xfrm>
            <a:off x="0" y="914400"/>
            <a:ext cx="12188952" cy="731520"/>
          </a:xfrm>
          <a:prstGeom prst="rect">
            <a:avLst/>
          </a:prstGeom>
          <a:noFill/>
          <a:ln/>
        </p:spPr>
        <p:txBody>
          <a:bodyPr wrap="square" rtlCol="0" anchor="ctr"/>
          <a:lstStyle/>
          <a:p>
            <a:pPr marL="0" indent="0" algn="ctr">
              <a:buNone/>
            </a:pPr>
            <a:r>
              <a:rPr lang="en-US" sz="4400" dirty="0">
                <a:solidFill>
                  <a:srgbClr val="000000"/>
                </a:solidFill>
              </a:rPr>
              <a:t>🚀</a:t>
            </a:r>
            <a:endParaRPr lang="en-US" sz="4400" dirty="0"/>
          </a:p>
        </p:txBody>
      </p:sp>
      <p:sp>
        <p:nvSpPr>
          <p:cNvPr id="3" name="Text 1"/>
          <p:cNvSpPr/>
          <p:nvPr/>
        </p:nvSpPr>
        <p:spPr>
          <a:xfrm>
            <a:off x="0" y="1645920"/>
            <a:ext cx="12188952" cy="640080"/>
          </a:xfrm>
          <a:prstGeom prst="rect">
            <a:avLst/>
          </a:prstGeom>
          <a:noFill/>
          <a:ln/>
        </p:spPr>
        <p:txBody>
          <a:bodyPr wrap="square" rtlCol="0" anchor="ctr"/>
          <a:lstStyle/>
          <a:p>
            <a:pPr marL="0" indent="0" algn="ctr">
              <a:buNone/>
            </a:pPr>
            <a:r>
              <a:rPr lang="en-US" sz="3600" b="1" dirty="0">
                <a:solidFill>
                  <a:srgbClr val="FFFFFF"/>
                </a:solidFill>
                <a:latin typeface="Arial Black" pitchFamily="34" charset="0"/>
                <a:ea typeface="Arial Black" pitchFamily="34" charset="-122"/>
                <a:cs typeface="Arial Black" pitchFamily="34" charset="-120"/>
              </a:rPr>
              <a:t>Next Step</a:t>
            </a:r>
            <a:endParaRPr lang="en-US" sz="3600" dirty="0"/>
          </a:p>
        </p:txBody>
      </p:sp>
      <p:sp>
        <p:nvSpPr>
          <p:cNvPr id="4" name="Text 2"/>
          <p:cNvSpPr/>
          <p:nvPr/>
        </p:nvSpPr>
        <p:spPr>
          <a:xfrm>
            <a:off x="0" y="2286000"/>
            <a:ext cx="12188952" cy="457200"/>
          </a:xfrm>
          <a:prstGeom prst="rect">
            <a:avLst/>
          </a:prstGeom>
          <a:noFill/>
          <a:ln/>
        </p:spPr>
        <p:txBody>
          <a:bodyPr wrap="square" rtlCol="0" anchor="ctr"/>
          <a:lstStyle/>
          <a:p>
            <a:pPr marL="0" indent="0" algn="ctr">
              <a:buNone/>
            </a:pPr>
            <a:r>
              <a:rPr lang="en-US" sz="2200" b="1" dirty="0">
                <a:solidFill>
                  <a:srgbClr val="F25E6B"/>
                </a:solidFill>
                <a:latin typeface="Arial Black" pitchFamily="34" charset="0"/>
                <a:ea typeface="Arial Black" pitchFamily="34" charset="-122"/>
                <a:cs typeface="Arial Black" pitchFamily="34" charset="-120"/>
              </a:rPr>
              <a:t>2-Week Paid Discovery Engagement</a:t>
            </a:r>
            <a:endParaRPr lang="en-US" sz="2200" dirty="0"/>
          </a:p>
        </p:txBody>
      </p:sp>
      <p:sp>
        <p:nvSpPr>
          <p:cNvPr id="5" name="Text 3"/>
          <p:cNvSpPr/>
          <p:nvPr/>
        </p:nvSpPr>
        <p:spPr>
          <a:xfrm>
            <a:off x="2286000" y="3017520"/>
            <a:ext cx="7589520" cy="2560320"/>
          </a:xfrm>
          <a:prstGeom prst="rect">
            <a:avLst/>
          </a:prstGeom>
          <a:noFill/>
          <a:ln/>
        </p:spPr>
        <p:txBody>
          <a:bodyPr wrap="square" rtlCol="0" anchor="ctr"/>
          <a:lstStyle/>
          <a:p>
            <a:pPr marL="342900" indent="-342900">
              <a:lnSpc>
                <a:spcPct val="150000"/>
              </a:lnSpc>
              <a:buSzPct val="100000"/>
              <a:buChar char="•"/>
            </a:pPr>
            <a:r>
              <a:rPr lang="en-US" sz="1400" dirty="0">
                <a:solidFill>
                  <a:srgbClr val="FFFFFF"/>
                </a:solidFill>
                <a:latin typeface="Arial" pitchFamily="34" charset="0"/>
                <a:ea typeface="Arial" pitchFamily="34" charset="-122"/>
                <a:cs typeface="Arial" pitchFamily="34" charset="-120"/>
              </a:rPr>
              <a:t>Analyze 50–100 representative SOPs across departments &amp; tiers</a:t>
            </a:r>
            <a:endParaRPr lang="en-US" sz="1400" dirty="0"/>
          </a:p>
          <a:p>
            <a:pPr marL="342900" indent="-342900">
              <a:lnSpc>
                <a:spcPct val="150000"/>
              </a:lnSpc>
              <a:buSzPct val="100000"/>
              <a:buChar char="•"/>
            </a:pPr>
            <a:r>
              <a:rPr lang="en-US" sz="1400" dirty="0">
                <a:solidFill>
                  <a:srgbClr val="FFFFFF"/>
                </a:solidFill>
                <a:latin typeface="Arial" pitchFamily="34" charset="0"/>
                <a:ea typeface="Arial" pitchFamily="34" charset="-122"/>
                <a:cs typeface="Arial" pitchFamily="34" charset="-120"/>
              </a:rPr>
              <a:t>Deliver SOP Quality Scorecard baseline for every document in scope</a:t>
            </a:r>
            <a:endParaRPr lang="en-US" sz="1400" dirty="0"/>
          </a:p>
          <a:p>
            <a:pPr marL="342900" indent="-342900">
              <a:lnSpc>
                <a:spcPct val="150000"/>
              </a:lnSpc>
              <a:buSzPct val="100000"/>
              <a:buChar char="•"/>
            </a:pPr>
            <a:r>
              <a:rPr lang="en-US" sz="1400" dirty="0">
                <a:solidFill>
                  <a:srgbClr val="FFFFFF"/>
                </a:solidFill>
                <a:latin typeface="Arial" pitchFamily="34" charset="0"/>
                <a:ea typeface="Arial" pitchFamily="34" charset="-122"/>
                <a:cs typeface="Arial" pitchFamily="34" charset="-120"/>
              </a:rPr>
              <a:t>Produce readability/risk heatmap with similarity analysis</a:t>
            </a:r>
            <a:endParaRPr lang="en-US" sz="1400" dirty="0"/>
          </a:p>
          <a:p>
            <a:pPr marL="342900" indent="-342900">
              <a:lnSpc>
                <a:spcPct val="150000"/>
              </a:lnSpc>
              <a:buSzPct val="100000"/>
              <a:buChar char="•"/>
            </a:pPr>
            <a:r>
              <a:rPr lang="en-US" sz="1400" dirty="0">
                <a:solidFill>
                  <a:srgbClr val="FFFFFF"/>
                </a:solidFill>
                <a:latin typeface="Arial" pitchFamily="34" charset="0"/>
                <a:ea typeface="Arial" pitchFamily="34" charset="-122"/>
                <a:cs typeface="Arial" pitchFamily="34" charset="-120"/>
              </a:rPr>
              <a:t>Map the client’s AI/digital ecosystem &amp; regulatory posture</a:t>
            </a:r>
            <a:endParaRPr lang="en-US" sz="1400" dirty="0"/>
          </a:p>
          <a:p>
            <a:pPr marL="342900" indent="-342900">
              <a:lnSpc>
                <a:spcPct val="150000"/>
              </a:lnSpc>
              <a:buSzPct val="100000"/>
              <a:buChar char="•"/>
            </a:pPr>
            <a:r>
              <a:rPr lang="en-US" sz="1400" dirty="0">
                <a:solidFill>
                  <a:srgbClr val="FFFFFF"/>
                </a:solidFill>
                <a:latin typeface="Arial" pitchFamily="34" charset="0"/>
                <a:ea typeface="Arial" pitchFamily="34" charset="-122"/>
                <a:cs typeface="Arial" pitchFamily="34" charset="-120"/>
              </a:rPr>
              <a:t>Present detailed quality improvement roadmap with business case</a:t>
            </a:r>
            <a:endParaRPr lang="en-US" sz="1400" dirty="0"/>
          </a:p>
        </p:txBody>
      </p:sp>
      <p:sp>
        <p:nvSpPr>
          <p:cNvPr id="6" name="Shape 4"/>
          <p:cNvSpPr/>
          <p:nvPr/>
        </p:nvSpPr>
        <p:spPr>
          <a:xfrm>
            <a:off x="3200400" y="5623560"/>
            <a:ext cx="5788152" cy="18288"/>
          </a:xfrm>
          <a:prstGeom prst="rect">
            <a:avLst/>
          </a:prstGeom>
          <a:solidFill>
            <a:srgbClr val="334155"/>
          </a:solidFill>
          <a:ln/>
        </p:spPr>
        <p:txBody>
          <a:bodyPr/>
          <a:lstStyle/>
          <a:p>
            <a:endParaRPr lang="en-US"/>
          </a:p>
        </p:txBody>
      </p:sp>
      <p:sp>
        <p:nvSpPr>
          <p:cNvPr id="7" name="Text 5"/>
          <p:cNvSpPr/>
          <p:nvPr/>
        </p:nvSpPr>
        <p:spPr>
          <a:xfrm>
            <a:off x="0" y="5760720"/>
            <a:ext cx="12188952" cy="274320"/>
          </a:xfrm>
          <a:prstGeom prst="rect">
            <a:avLst/>
          </a:prstGeom>
          <a:noFill/>
          <a:ln/>
        </p:spPr>
        <p:txBody>
          <a:bodyPr wrap="square"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[Presenter Name], [Credentials] | [Title]</a:t>
            </a:r>
            <a:endParaRPr lang="en-US" sz="1100" dirty="0"/>
          </a:p>
        </p:txBody>
      </p:sp>
      <p:sp>
        <p:nvSpPr>
          <p:cNvPr id="8" name="Text 6"/>
          <p:cNvSpPr/>
          <p:nvPr/>
        </p:nvSpPr>
        <p:spPr>
          <a:xfrm>
            <a:off x="0" y="5989320"/>
            <a:ext cx="12188952" cy="274320"/>
          </a:xfrm>
          <a:prstGeom prst="rect">
            <a:avLst/>
          </a:prstGeom>
          <a:noFill/>
          <a:ln/>
        </p:spPr>
        <p:txBody>
          <a:bodyPr wrap="square" rtlCol="0" anchor="ctr"/>
          <a:lstStyle/>
          <a:p>
            <a:pPr marL="0" indent="0" algn="ctr">
              <a:buNone/>
            </a:pPr>
            <a:r>
              <a:rPr lang="en-US" sz="1100" dirty="0">
                <a:solidFill>
                  <a:srgbClr val="F25E6B"/>
                </a:solidFill>
                <a:latin typeface="Arial" pitchFamily="34" charset="0"/>
                <a:ea typeface="Arial" pitchFamily="34" charset="-122"/>
                <a:cs typeface="Arial" pitchFamily="34" charset="-120"/>
              </a:rPr>
              <a:t>[Your Company Name] | [Phone] | [Email]</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 cy="502920"/>
          </a:xfrm>
          <a:prstGeom prst="rect">
            <a:avLst/>
          </a:prstGeom>
          <a:solidFill>
            <a:srgbClr val="F25E6B"/>
          </a:solidFill>
          <a:ln/>
        </p:spPr>
        <p:txBody>
          <a:bodyPr/>
          <a:lstStyle/>
          <a:p>
            <a:endParaRPr lang="en-US"/>
          </a:p>
        </p:txBody>
      </p:sp>
      <p:sp>
        <p:nvSpPr>
          <p:cNvPr id="3" name="Text 1"/>
          <p:cNvSpPr/>
          <p:nvPr/>
        </p:nvSpPr>
        <p:spPr>
          <a:xfrm>
            <a:off x="731520" y="365760"/>
            <a:ext cx="9144000" cy="594360"/>
          </a:xfrm>
          <a:prstGeom prst="rect">
            <a:avLst/>
          </a:prstGeom>
          <a:noFill/>
          <a:ln/>
        </p:spPr>
        <p:txBody>
          <a:bodyPr wrap="square" rtlCol="0" anchor="ctr"/>
          <a:lstStyle/>
          <a:p>
            <a:pPr marL="0" indent="0">
              <a:buNone/>
            </a:pPr>
            <a:r>
              <a:rPr lang="en-US" sz="2800" b="1" dirty="0">
                <a:solidFill>
                  <a:srgbClr val="0D0D0D"/>
                </a:solidFill>
                <a:latin typeface="Arial Black" pitchFamily="34" charset="0"/>
                <a:ea typeface="Arial Black" pitchFamily="34" charset="-122"/>
                <a:cs typeface="Arial Black" pitchFamily="34" charset="-120"/>
              </a:rPr>
              <a:t>Key References</a:t>
            </a:r>
            <a:endParaRPr lang="en-US" sz="2800" dirty="0"/>
          </a:p>
        </p:txBody>
      </p:sp>
      <p:sp>
        <p:nvSpPr>
          <p:cNvPr id="4" name="Text 2"/>
          <p:cNvSpPr/>
          <p:nvPr/>
        </p:nvSpPr>
        <p:spPr>
          <a:xfrm>
            <a:off x="548640" y="128016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1. </a:t>
            </a:r>
            <a:r>
              <a:rPr lang="en-US" sz="1000" dirty="0">
                <a:solidFill>
                  <a:srgbClr val="334155"/>
                </a:solidFill>
                <a:latin typeface="Arial" pitchFamily="34" charset="0"/>
                <a:ea typeface="Arial" pitchFamily="34" charset="-122"/>
                <a:cs typeface="Arial" pitchFamily="34" charset="-120"/>
              </a:rPr>
              <a:t>FDA — Quality Systems Approach to Pharmaceutical CGMP Regulations (2006)</a:t>
            </a:r>
            <a:endParaRPr lang="en-US" sz="1000" dirty="0"/>
          </a:p>
        </p:txBody>
      </p:sp>
      <p:sp>
        <p:nvSpPr>
          <p:cNvPr id="5" name="Text 3"/>
          <p:cNvSpPr/>
          <p:nvPr/>
        </p:nvSpPr>
        <p:spPr>
          <a:xfrm>
            <a:off x="548640" y="192024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2. </a:t>
            </a:r>
            <a:r>
              <a:rPr lang="en-US" sz="1000" dirty="0">
                <a:solidFill>
                  <a:srgbClr val="334155"/>
                </a:solidFill>
                <a:latin typeface="Arial" pitchFamily="34" charset="0"/>
                <a:ea typeface="Arial" pitchFamily="34" charset="-122"/>
                <a:cs typeface="Arial" pitchFamily="34" charset="-120"/>
              </a:rPr>
              <a:t>ICH Q10 — Pharmaceutical Quality System (2008); ICH Q9(R1) — Quality Risk Mgmt (2023)</a:t>
            </a:r>
            <a:endParaRPr lang="en-US" sz="1000" dirty="0"/>
          </a:p>
        </p:txBody>
      </p:sp>
      <p:sp>
        <p:nvSpPr>
          <p:cNvPr id="6" name="Text 4"/>
          <p:cNvSpPr/>
          <p:nvPr/>
        </p:nvSpPr>
        <p:spPr>
          <a:xfrm>
            <a:off x="548640" y="256032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3. </a:t>
            </a:r>
            <a:r>
              <a:rPr lang="en-US" sz="1000" dirty="0">
                <a:solidFill>
                  <a:srgbClr val="334155"/>
                </a:solidFill>
                <a:latin typeface="Arial" pitchFamily="34" charset="0"/>
                <a:ea typeface="Arial" pitchFamily="34" charset="-122"/>
                <a:cs typeface="Arial" pitchFamily="34" charset="-120"/>
              </a:rPr>
              <a:t>ISPE GAMP 5, 2nd Ed. — Risk-Based Approach to GxP Computerized Systems (2022)</a:t>
            </a:r>
            <a:endParaRPr lang="en-US" sz="1000" dirty="0"/>
          </a:p>
        </p:txBody>
      </p:sp>
      <p:sp>
        <p:nvSpPr>
          <p:cNvPr id="7" name="Text 5"/>
          <p:cNvSpPr/>
          <p:nvPr/>
        </p:nvSpPr>
        <p:spPr>
          <a:xfrm>
            <a:off x="548640" y="320040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4. </a:t>
            </a:r>
            <a:r>
              <a:rPr lang="en-US" sz="1000" dirty="0">
                <a:solidFill>
                  <a:srgbClr val="334155"/>
                </a:solidFill>
                <a:latin typeface="Arial" pitchFamily="34" charset="0"/>
                <a:ea typeface="Arial" pitchFamily="34" charset="-122"/>
                <a:cs typeface="Arial" pitchFamily="34" charset="-120"/>
              </a:rPr>
              <a:t>FDA — Computer Software Assurance (CSA), Draft Guidance (2022)</a:t>
            </a:r>
            <a:endParaRPr lang="en-US" sz="1000" dirty="0"/>
          </a:p>
        </p:txBody>
      </p:sp>
      <p:sp>
        <p:nvSpPr>
          <p:cNvPr id="8" name="Text 6"/>
          <p:cNvSpPr/>
          <p:nvPr/>
        </p:nvSpPr>
        <p:spPr>
          <a:xfrm>
            <a:off x="548640" y="384048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5. </a:t>
            </a:r>
            <a:r>
              <a:rPr lang="en-US" sz="1000" dirty="0">
                <a:solidFill>
                  <a:srgbClr val="334155"/>
                </a:solidFill>
                <a:latin typeface="Arial" pitchFamily="34" charset="0"/>
                <a:ea typeface="Arial" pitchFamily="34" charset="-122"/>
                <a:cs typeface="Arial" pitchFamily="34" charset="-120"/>
              </a:rPr>
              <a:t>21 CFR Part 211 (§211.22, §211.100, §211.192); 21 CFR Part 11</a:t>
            </a:r>
            <a:endParaRPr lang="en-US" sz="1000" dirty="0"/>
          </a:p>
        </p:txBody>
      </p:sp>
      <p:sp>
        <p:nvSpPr>
          <p:cNvPr id="9" name="Text 7"/>
          <p:cNvSpPr/>
          <p:nvPr/>
        </p:nvSpPr>
        <p:spPr>
          <a:xfrm>
            <a:off x="548640" y="448056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6. </a:t>
            </a:r>
            <a:r>
              <a:rPr lang="en-US" sz="1000" dirty="0">
                <a:solidFill>
                  <a:srgbClr val="334155"/>
                </a:solidFill>
                <a:latin typeface="Arial" pitchFamily="34" charset="0"/>
                <a:ea typeface="Arial" pitchFamily="34" charset="-122"/>
                <a:cs typeface="Arial" pitchFamily="34" charset="-120"/>
              </a:rPr>
              <a:t>PIC/S PI 041-1 — Data Management &amp; Integrity (2021); ISPE GPG Records &amp; DI (2021)</a:t>
            </a:r>
            <a:endParaRPr lang="en-US" sz="1000" dirty="0"/>
          </a:p>
        </p:txBody>
      </p:sp>
      <p:sp>
        <p:nvSpPr>
          <p:cNvPr id="10" name="Text 8"/>
          <p:cNvSpPr/>
          <p:nvPr/>
        </p:nvSpPr>
        <p:spPr>
          <a:xfrm>
            <a:off x="6217920" y="128016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7. </a:t>
            </a:r>
            <a:r>
              <a:rPr lang="en-US" sz="1000" dirty="0">
                <a:solidFill>
                  <a:srgbClr val="334155"/>
                </a:solidFill>
                <a:latin typeface="Arial" pitchFamily="34" charset="0"/>
                <a:ea typeface="Arial" pitchFamily="34" charset="-122"/>
                <a:cs typeface="Arial" pitchFamily="34" charset="-120"/>
              </a:rPr>
              <a:t>PDA TR 54 — Quality Risk Management; McKinsey — Future of Pharma QC (2020)</a:t>
            </a:r>
            <a:endParaRPr lang="en-US" sz="1000" dirty="0"/>
          </a:p>
        </p:txBody>
      </p:sp>
      <p:sp>
        <p:nvSpPr>
          <p:cNvPr id="11" name="Text 9"/>
          <p:cNvSpPr/>
          <p:nvPr/>
        </p:nvSpPr>
        <p:spPr>
          <a:xfrm>
            <a:off x="6217920" y="192024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8. </a:t>
            </a:r>
            <a:r>
              <a:rPr lang="en-US" sz="1000" dirty="0">
                <a:solidFill>
                  <a:srgbClr val="334155"/>
                </a:solidFill>
                <a:latin typeface="Arial" pitchFamily="34" charset="0"/>
                <a:ea typeface="Arial" pitchFamily="34" charset="-122"/>
                <a:cs typeface="Arial" pitchFamily="34" charset="-120"/>
              </a:rPr>
              <a:t>FDA — AI Draft Guidance for Regulatory Decisions (Jan 2025, Docket FDA-2024-D-4689)</a:t>
            </a:r>
            <a:endParaRPr lang="en-US" sz="1000" dirty="0"/>
          </a:p>
        </p:txBody>
      </p:sp>
      <p:sp>
        <p:nvSpPr>
          <p:cNvPr id="12" name="Text 10"/>
          <p:cNvSpPr/>
          <p:nvPr/>
        </p:nvSpPr>
        <p:spPr>
          <a:xfrm>
            <a:off x="6217920" y="256032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9. </a:t>
            </a:r>
            <a:r>
              <a:rPr lang="en-US" sz="1000" dirty="0">
                <a:solidFill>
                  <a:srgbClr val="334155"/>
                </a:solidFill>
                <a:latin typeface="Arial" pitchFamily="34" charset="0"/>
                <a:ea typeface="Arial" pitchFamily="34" charset="-122"/>
                <a:cs typeface="Arial" pitchFamily="34" charset="-120"/>
              </a:rPr>
              <a:t>FDA-EMA — Guiding Principles for Good AI Practice, Medicines Lifecycle (Jan 2026)</a:t>
            </a:r>
            <a:endParaRPr lang="en-US" sz="1000" dirty="0"/>
          </a:p>
        </p:txBody>
      </p:sp>
      <p:sp>
        <p:nvSpPr>
          <p:cNvPr id="13" name="Text 11"/>
          <p:cNvSpPr/>
          <p:nvPr/>
        </p:nvSpPr>
        <p:spPr>
          <a:xfrm>
            <a:off x="6217920" y="320040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10. </a:t>
            </a:r>
            <a:r>
              <a:rPr lang="en-US" sz="1000" dirty="0">
                <a:solidFill>
                  <a:srgbClr val="334155"/>
                </a:solidFill>
                <a:latin typeface="Arial" pitchFamily="34" charset="0"/>
                <a:ea typeface="Arial" pitchFamily="34" charset="-122"/>
                <a:cs typeface="Arial" pitchFamily="34" charset="-120"/>
              </a:rPr>
              <a:t>FDA — GMLP Guiding Principles (2021); PCCP Final Guidance (Dec 2024)</a:t>
            </a:r>
            <a:endParaRPr lang="en-US" sz="1000" dirty="0"/>
          </a:p>
        </p:txBody>
      </p:sp>
      <p:sp>
        <p:nvSpPr>
          <p:cNvPr id="14" name="Text 12"/>
          <p:cNvSpPr/>
          <p:nvPr/>
        </p:nvSpPr>
        <p:spPr>
          <a:xfrm>
            <a:off x="6217920" y="384048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11. </a:t>
            </a:r>
            <a:r>
              <a:rPr lang="en-US" sz="1000" dirty="0">
                <a:solidFill>
                  <a:srgbClr val="334155"/>
                </a:solidFill>
                <a:latin typeface="Arial" pitchFamily="34" charset="0"/>
                <a:ea typeface="Arial" pitchFamily="34" charset="-122"/>
                <a:cs typeface="Arial" pitchFamily="34" charset="-120"/>
              </a:rPr>
              <a:t>FDA — AI/ML SaMD Action Plan (2021); Cross-Center AI Coordination (Mar 2024)</a:t>
            </a:r>
            <a:endParaRPr lang="en-US" sz="1000" dirty="0"/>
          </a:p>
        </p:txBody>
      </p:sp>
      <p:sp>
        <p:nvSpPr>
          <p:cNvPr id="15" name="Text 13"/>
          <p:cNvSpPr/>
          <p:nvPr/>
        </p:nvSpPr>
        <p:spPr>
          <a:xfrm>
            <a:off x="6217920" y="4480560"/>
            <a:ext cx="5303520" cy="594360"/>
          </a:xfrm>
          <a:prstGeom prst="rect">
            <a:avLst/>
          </a:prstGeom>
          <a:noFill/>
          <a:ln/>
        </p:spPr>
        <p:txBody>
          <a:bodyPr wrap="square" rtlCol="0" anchor="t"/>
          <a:lstStyle/>
          <a:p>
            <a:pPr marL="0" indent="0">
              <a:buNone/>
            </a:pPr>
            <a:r>
              <a:rPr lang="en-US" sz="1000" b="1" dirty="0">
                <a:solidFill>
                  <a:srgbClr val="F25E6B"/>
                </a:solidFill>
                <a:latin typeface="Arial" pitchFamily="34" charset="0"/>
                <a:ea typeface="Arial" pitchFamily="34" charset="-122"/>
                <a:cs typeface="Arial" pitchFamily="34" charset="-120"/>
              </a:rPr>
              <a:t>12. </a:t>
            </a:r>
            <a:r>
              <a:rPr lang="en-US" sz="1000" dirty="0">
                <a:solidFill>
                  <a:srgbClr val="334155"/>
                </a:solidFill>
                <a:latin typeface="Arial" pitchFamily="34" charset="0"/>
                <a:ea typeface="Arial" pitchFamily="34" charset="-122"/>
                <a:cs typeface="Arial" pitchFamily="34" charset="-120"/>
              </a:rPr>
              <a:t>Deloitte — Smart Factory @ Scale (2022); ISPE — Pharma 4.0 Operating Model (2019)</a:t>
            </a:r>
            <a:endParaRPr lang="en-US" sz="1000" dirty="0"/>
          </a:p>
        </p:txBody>
      </p:sp>
      <p:sp>
        <p:nvSpPr>
          <p:cNvPr id="16" name="Text 14"/>
          <p:cNvSpPr/>
          <p:nvPr/>
        </p:nvSpPr>
        <p:spPr>
          <a:xfrm>
            <a:off x="0" y="6400800"/>
            <a:ext cx="12188952" cy="365760"/>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2227</Words>
  <Application>Microsoft Macintosh PowerPoint</Application>
  <PresentationFormat>Custom</PresentationFormat>
  <Paragraphs>395</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2</cp:revision>
  <dcterms:created xsi:type="dcterms:W3CDTF">2026-04-16T15:55:41Z</dcterms:created>
  <dcterms:modified xsi:type="dcterms:W3CDTF">2026-04-16T15:58:19Z</dcterms:modified>
</cp:coreProperties>
</file>